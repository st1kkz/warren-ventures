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theme/theme1.xml" ContentType="application/vnd.openxmlformats-officedocument.theme+xml"/>
  <Override PartName="/ppt/media/image2.png" ContentType="image/png"/>
  <Override PartName="/ppt/media/image5.png" ContentType="image/png"/>
  <Override PartName="/ppt/media/image8.png" ContentType="image/png"/>
  <Override PartName="/ppt/media/image1.png" ContentType="image/png"/>
  <Override PartName="/ppt/media/image4.png" ContentType="image/png"/>
  <Override PartName="/ppt/media/image7.png" ContentType="image/png"/>
  <Override PartName="/ppt/media/image3.png" ContentType="image/png"/>
  <Override PartName="/ppt/media/image10.png" ContentType="image/png"/>
  <Override PartName="/ppt/media/image6.png" ContentType="image/png"/>
  <Override PartName="/ppt/media/image9.png" ContentType="image/png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_rels/slide33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2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8.xml.rels" ContentType="application/vnd.openxmlformats-package.relationships+xml"/>
  <Override PartName="/ppt/slides/_rels/slide31.xml.rels" ContentType="application/vnd.openxmlformats-package.relationships+xml"/>
  <Override PartName="/ppt/slides/_rels/slide20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34.xml.rels" ContentType="application/vnd.openxmlformats-package.relationships+xml"/>
  <Override PartName="/ppt/slides/_rels/slide25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32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0.xml.rels" ContentType="application/vnd.openxmlformats-package.relationships+xml"/>
  <Override PartName="/ppt/slides/_rels/slide5.xml.rels" ContentType="application/vnd.openxmlformats-package.relationships+xml"/>
  <Override PartName="/ppt/slides/_rels/slide35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18.xml.rels" ContentType="application/vnd.openxmlformats-package.relationships+xml"/>
  <Override PartName="/ppt/slides/_rels/slide2.xml.rels" ContentType="application/vnd.openxmlformats-package.relationships+xml"/>
  <Override PartName="/ppt/slides/slide5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31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9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</p:spPr>
        <p:txBody>
          <a:bodyPr anchor="ctr" bIns="46800" lIns="90000" rIns="90000" tIns="46800"/>
          <a:p>
            <a:pPr algn="ctr"/>
            <a:r>
              <a:rPr lang="en-US"/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</p:spPr>
        <p:txBody>
          <a:bodyPr bIns="46800" lIns="90000" rIns="90000" tIns="46800"/>
          <a:p>
            <a:pPr>
              <a:buFont typeface="Times New Roman"/>
              <a:buChar char="•"/>
            </a:pPr>
            <a:r>
              <a:rPr lang="en-US"/>
              <a:t>Click to edit the outline text format</a:t>
            </a:r>
            <a:endParaRPr/>
          </a:p>
          <a:p>
            <a:pPr lvl="1">
              <a:buFont typeface="Times New Roman"/>
              <a:buChar char="–"/>
            </a:pPr>
            <a:r>
              <a:rPr lang="en-US"/>
              <a:t>Second Outline Level</a:t>
            </a:r>
            <a:endParaRPr/>
          </a:p>
          <a:p>
            <a:pPr lvl="2">
              <a:buFont typeface="Times New Roman"/>
              <a:buChar char="•"/>
            </a:pPr>
            <a:r>
              <a:rPr lang="en-US"/>
              <a:t>Third Outline Level</a:t>
            </a:r>
            <a:endParaRPr/>
          </a:p>
          <a:p>
            <a:pPr lvl="3">
              <a:buFont typeface="Times New Roman"/>
              <a:buChar char="–"/>
            </a:pPr>
            <a:r>
              <a:rPr lang="en-US"/>
              <a:t>Fourth Outline Level</a:t>
            </a:r>
            <a:endParaRPr/>
          </a:p>
          <a:p>
            <a:pPr lvl="4">
              <a:buFont typeface="Times New Roman"/>
              <a:buChar char="»"/>
            </a:pPr>
            <a:r>
              <a:rPr lang="en-US"/>
              <a:t>Fifth Outline Level</a:t>
            </a:r>
            <a:endParaRPr/>
          </a:p>
          <a:p>
            <a:pPr lvl="5">
              <a:buFont typeface="Times New Roman"/>
              <a:buChar char="»"/>
            </a:pPr>
            <a:r>
              <a:rPr lang="en-US"/>
              <a:t>Sixth Outline Level</a:t>
            </a:r>
            <a:endParaRPr/>
          </a:p>
          <a:p>
            <a:pPr lvl="6">
              <a:buFont typeface="Times New Roman"/>
              <a:buChar char="»"/>
            </a:pPr>
            <a:r>
              <a:rPr lang="en-US"/>
              <a:t>Seventh Outline Level</a:t>
            </a:r>
            <a:endParaRPr/>
          </a:p>
          <a:p>
            <a:pPr lvl="7">
              <a:buFont typeface="Times New Roman"/>
              <a:buChar char="»"/>
            </a:pPr>
            <a:r>
              <a:rPr lang="en-US"/>
              <a:t>Eighth Outline Level</a:t>
            </a:r>
            <a:endParaRPr/>
          </a:p>
          <a:p>
            <a:pPr lvl="8">
              <a:buFont typeface="Times New Roman"/>
              <a:buChar char="»"/>
            </a:pPr>
            <a:r>
              <a:rPr lang="en-US"/>
              <a:t>Ninth Outline Level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457200" y="6245280"/>
            <a:ext cx="2131920" cy="474840"/>
          </a:xfrm>
          <a:prstGeom prst="rect">
            <a:avLst/>
          </a:prstGeom>
        </p:spPr>
        <p:txBody>
          <a:bodyPr bIns="46800" lIns="90000" rIns="90000" tIns="46800"/>
          <a:p>
            <a:pPr>
              <a:buFont typeface="Times New Roman"/>
              <a:buChar char="•"/>
            </a:pPr>
            <a:r>
              <a:rPr lang="en-US"/>
              <a:t>&lt;date/time&gt;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123720" y="6245280"/>
            <a:ext cx="2894040" cy="474840"/>
          </a:xfrm>
          <a:prstGeom prst="rect">
            <a:avLst/>
          </a:prstGeom>
        </p:spPr>
        <p:txBody>
          <a:bodyPr bIns="46800" lIns="90000" rIns="90000" tIns="46800"/>
          <a:p>
            <a:pPr>
              <a:buFont typeface="Times New Roman"/>
              <a:buChar char="•"/>
            </a:pPr>
            <a:r>
              <a:rPr lang="en-US"/>
              <a:t>&lt;footer&gt;</a:t>
            </a:r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552720" y="6245280"/>
            <a:ext cx="2132280" cy="474840"/>
          </a:xfrm>
          <a:prstGeom prst="rect">
            <a:avLst/>
          </a:prstGeom>
        </p:spPr>
        <p:txBody>
          <a:bodyPr bIns="46800" lIns="90000" rIns="90000" tIns="46800"/>
          <a:p>
            <a:pPr>
              <a:buFont typeface="Times New Roman"/>
              <a:buChar char="•"/>
            </a:pPr>
            <a:fld id="{C181D1A1-3111-4131-B121-B121D1112111}" type="slidenum">
              <a:rPr lang="en-US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pic>
        <p:nvPicPr>
          <p:cNvPr descr="" id="6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7" name="CustomShape 2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8" name="CustomShape 3"/>
          <p:cNvSpPr/>
          <p:nvPr/>
        </p:nvSpPr>
        <p:spPr>
          <a:xfrm>
            <a:off x="3429000" y="4114800"/>
            <a:ext cx="243828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Freedom to be Truly Social</a:t>
            </a:r>
            <a:endParaRPr/>
          </a:p>
        </p:txBody>
      </p:sp>
      <p:sp>
        <p:nvSpPr>
          <p:cNvPr id="9" name="CustomShape 4"/>
          <p:cNvSpPr/>
          <p:nvPr/>
        </p:nvSpPr>
        <p:spPr>
          <a:xfrm>
            <a:off x="6400800" y="2514600"/>
            <a:ext cx="2133720" cy="17989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Application concept by Benjamin Bryant.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Privacy model by Benjamin Bryant.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Butterfly clipart from openclipart.org</a:t>
            </a:r>
            <a:endParaRPr/>
          </a:p>
        </p:txBody>
      </p:sp>
    </p:spTree>
  </p:cSld>
  <p:timing>
    <p:tnLst>
      <p:par>
        <p:cTn dur="indefinite" id="1" nodeType="tmRoot" restart="never">
          <p:childTnLst>
            <p:seq>
              <p:cTn id="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1" name="CustomShape 2"/>
          <p:cNvSpPr/>
          <p:nvPr/>
        </p:nvSpPr>
        <p:spPr>
          <a:xfrm>
            <a:off x="6705720" y="2590920"/>
            <a:ext cx="2133360" cy="6426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lang="en-US">
                <a:latin typeface="Segoe UI"/>
              </a:rPr>
              <a:t>Main Menu</a:t>
            </a:r>
            <a:endParaRPr/>
          </a:p>
        </p:txBody>
      </p:sp>
      <p:sp>
        <p:nvSpPr>
          <p:cNvPr id="12" name="CustomShape 3"/>
          <p:cNvSpPr/>
          <p:nvPr/>
        </p:nvSpPr>
        <p:spPr>
          <a:xfrm>
            <a:off x="6705720" y="3429000"/>
            <a:ext cx="213336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Freedom to be 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Truly Social</a:t>
            </a:r>
            <a:endParaRPr/>
          </a:p>
        </p:txBody>
      </p:sp>
      <p:sp>
        <p:nvSpPr>
          <p:cNvPr id="13" name="CustomShape 4"/>
          <p:cNvSpPr/>
          <p:nvPr/>
        </p:nvSpPr>
        <p:spPr>
          <a:xfrm>
            <a:off x="298440" y="106668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Map</a:t>
            </a:r>
            <a:endParaRPr/>
          </a:p>
        </p:txBody>
      </p:sp>
      <p:sp>
        <p:nvSpPr>
          <p:cNvPr id="14" name="CustomShape 5"/>
          <p:cNvSpPr/>
          <p:nvPr/>
        </p:nvSpPr>
        <p:spPr>
          <a:xfrm>
            <a:off x="298440" y="190512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Chat</a:t>
            </a:r>
            <a:endParaRPr/>
          </a:p>
        </p:txBody>
      </p:sp>
      <p:sp>
        <p:nvSpPr>
          <p:cNvPr id="15" name="CustomShape 6"/>
          <p:cNvSpPr/>
          <p:nvPr/>
        </p:nvSpPr>
        <p:spPr>
          <a:xfrm>
            <a:off x="298440" y="274320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Listen</a:t>
            </a:r>
            <a:endParaRPr/>
          </a:p>
        </p:txBody>
      </p:sp>
      <p:sp>
        <p:nvSpPr>
          <p:cNvPr id="16" name="CustomShape 7"/>
          <p:cNvSpPr/>
          <p:nvPr/>
        </p:nvSpPr>
        <p:spPr>
          <a:xfrm>
            <a:off x="298440" y="358128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Call</a:t>
            </a:r>
            <a:endParaRPr/>
          </a:p>
        </p:txBody>
      </p:sp>
      <p:sp>
        <p:nvSpPr>
          <p:cNvPr id="17" name="CustomShape 8"/>
          <p:cNvSpPr/>
          <p:nvPr/>
        </p:nvSpPr>
        <p:spPr>
          <a:xfrm>
            <a:off x="304920" y="457200"/>
            <a:ext cx="213336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Future bottom bar Functions</a:t>
            </a:r>
            <a:endParaRPr/>
          </a:p>
        </p:txBody>
      </p:sp>
      <p:sp>
        <p:nvSpPr>
          <p:cNvPr id="18" name="CustomShape 9"/>
          <p:cNvSpPr/>
          <p:nvPr/>
        </p:nvSpPr>
        <p:spPr>
          <a:xfrm>
            <a:off x="298440" y="441972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Events</a:t>
            </a:r>
            <a:endParaRPr/>
          </a:p>
        </p:txBody>
      </p:sp>
      <p:sp>
        <p:nvSpPr>
          <p:cNvPr id="19" name="CustomShape 10"/>
          <p:cNvSpPr/>
          <p:nvPr/>
        </p:nvSpPr>
        <p:spPr>
          <a:xfrm>
            <a:off x="298440" y="525780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Utilities</a:t>
            </a:r>
            <a:endParaRPr/>
          </a:p>
        </p:txBody>
      </p:sp>
      <p:sp>
        <p:nvSpPr>
          <p:cNvPr id="20" name="CustomShape 11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sp>
        <p:nvSpPr>
          <p:cNvPr id="21" name="CustomShape 12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2" name="CustomShape 13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3" name="CustomShape 14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4" name="CustomShape 15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5" name="CustomShape 16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pic>
        <p:nvPicPr>
          <p:cNvPr descr="" id="26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27" name="CustomShape 17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28" name="CustomShape 18"/>
          <p:cNvSpPr/>
          <p:nvPr/>
        </p:nvSpPr>
        <p:spPr>
          <a:xfrm>
            <a:off x="3429000" y="4114800"/>
            <a:ext cx="243828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Freedom to be Truly Social</a:t>
            </a:r>
            <a:endParaRPr/>
          </a:p>
        </p:txBody>
      </p:sp>
      <p:sp>
        <p:nvSpPr>
          <p:cNvPr id="29" name="CustomShape 19"/>
          <p:cNvSpPr/>
          <p:nvPr/>
        </p:nvSpPr>
        <p:spPr>
          <a:xfrm>
            <a:off x="1522440" y="106668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Search</a:t>
            </a:r>
            <a:endParaRPr/>
          </a:p>
        </p:txBody>
      </p:sp>
      <p:sp>
        <p:nvSpPr>
          <p:cNvPr id="30" name="CustomShape 20"/>
          <p:cNvSpPr/>
          <p:nvPr/>
        </p:nvSpPr>
        <p:spPr>
          <a:xfrm>
            <a:off x="1522440" y="190512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History</a:t>
            </a:r>
            <a:endParaRPr/>
          </a:p>
        </p:txBody>
      </p:sp>
      <p:sp>
        <p:nvSpPr>
          <p:cNvPr id="31" name="CustomShape 21"/>
          <p:cNvSpPr/>
          <p:nvPr/>
        </p:nvSpPr>
        <p:spPr>
          <a:xfrm>
            <a:off x="1522440" y="274320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Coach</a:t>
            </a:r>
            <a:endParaRPr/>
          </a:p>
        </p:txBody>
      </p:sp>
    </p:spTree>
  </p:cSld>
  <p:timing>
    <p:tnLst>
      <p:par>
        <p:cTn dur="indefinite" id="3" nodeType="tmRoot" restart="never">
          <p:childTnLst>
            <p:seq>
              <p:cTn id="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3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sp>
        <p:nvSpPr>
          <p:cNvPr id="34" name="CustomShape 3"/>
          <p:cNvSpPr/>
          <p:nvPr/>
        </p:nvSpPr>
        <p:spPr>
          <a:xfrm>
            <a:off x="6705720" y="2133720"/>
            <a:ext cx="2133360" cy="9169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lang="en-US">
                <a:latin typeface="Segoe UI"/>
              </a:rPr>
              <a:t>Activity Use Case</a:t>
            </a:r>
            <a:endParaRPr/>
          </a:p>
        </p:txBody>
      </p:sp>
      <p:sp>
        <p:nvSpPr>
          <p:cNvPr id="35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6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7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8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9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pic>
        <p:nvPicPr>
          <p:cNvPr descr="" id="40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41" name="CustomShape 9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42" name="CustomShape 10"/>
          <p:cNvSpPr/>
          <p:nvPr/>
        </p:nvSpPr>
        <p:spPr>
          <a:xfrm>
            <a:off x="3429000" y="4114800"/>
            <a:ext cx="243828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Freedom to be Truly Social</a:t>
            </a:r>
            <a:endParaRPr/>
          </a:p>
        </p:txBody>
      </p:sp>
    </p:spTree>
  </p:cSld>
  <p:timing>
    <p:tnLst>
      <p:par>
        <p:cTn dur="indefinite" id="5" nodeType="tmRoot" restart="never">
          <p:childTnLst>
            <p:seq>
              <p:cTn id="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4" name="CustomShape 2"/>
          <p:cNvSpPr/>
          <p:nvPr/>
        </p:nvSpPr>
        <p:spPr>
          <a:xfrm>
            <a:off x="6705720" y="838080"/>
            <a:ext cx="2133360" cy="542196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i="1" lang="en-US" sz="1400">
                <a:latin typeface="Segoe UI"/>
              </a:rPr>
              <a:t>butterfli</a:t>
            </a:r>
            <a:r>
              <a:rPr i="1" lang="en-US" sz="1400">
                <a:latin typeface="Segoe UI"/>
              </a:rPr>
              <a:t> displays recent social network activity – email, facebook, twitter, etc – for all contacts within the selected context according to their contact details AND the networking modules configured.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Display is very similar to a news aggregator (Fluent display is used as an example), except wth add’l functionality for email replys, facebook comments, forwards, etc.  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To change context, simply tap the mini model in the upper right.</a:t>
            </a:r>
            <a:endParaRPr/>
          </a:p>
        </p:txBody>
      </p:sp>
      <p:sp>
        <p:nvSpPr>
          <p:cNvPr id="45" name="CustomShape 3"/>
          <p:cNvSpPr/>
          <p:nvPr/>
        </p:nvSpPr>
        <p:spPr>
          <a:xfrm>
            <a:off x="3429000" y="236232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Share</a:t>
            </a:r>
            <a:endParaRPr/>
          </a:p>
        </p:txBody>
      </p:sp>
      <p:sp>
        <p:nvSpPr>
          <p:cNvPr id="46" name="CustomShape 4"/>
          <p:cNvSpPr/>
          <p:nvPr/>
        </p:nvSpPr>
        <p:spPr>
          <a:xfrm>
            <a:off x="4724280" y="2362320"/>
            <a:ext cx="1067040" cy="6858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Browse</a:t>
            </a:r>
            <a:endParaRPr/>
          </a:p>
        </p:txBody>
      </p:sp>
      <p:sp>
        <p:nvSpPr>
          <p:cNvPr id="47" name="CustomShape 5"/>
          <p:cNvSpPr/>
          <p:nvPr/>
        </p:nvSpPr>
        <p:spPr>
          <a:xfrm>
            <a:off x="3429000" y="320040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Associate</a:t>
            </a:r>
            <a:endParaRPr/>
          </a:p>
        </p:txBody>
      </p:sp>
      <p:sp>
        <p:nvSpPr>
          <p:cNvPr id="48" name="CustomShape 6"/>
          <p:cNvSpPr/>
          <p:nvPr/>
        </p:nvSpPr>
        <p:spPr>
          <a:xfrm>
            <a:off x="4724280" y="3200400"/>
            <a:ext cx="106704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Configure</a:t>
            </a:r>
            <a:endParaRPr/>
          </a:p>
        </p:txBody>
      </p:sp>
      <p:sp>
        <p:nvSpPr>
          <p:cNvPr id="49" name="CustomShape 7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Butterfly</a:t>
            </a:r>
            <a:endParaRPr/>
          </a:p>
        </p:txBody>
      </p:sp>
      <p:pic>
        <p:nvPicPr>
          <p:cNvPr descr="" id="50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120" y="914400"/>
            <a:ext cx="3124080" cy="4724280"/>
          </a:xfrm>
          <a:prstGeom prst="rect">
            <a:avLst/>
          </a:prstGeom>
        </p:spPr>
      </p:pic>
      <p:sp>
        <p:nvSpPr>
          <p:cNvPr id="51" name="CustomShape 8"/>
          <p:cNvSpPr/>
          <p:nvPr/>
        </p:nvSpPr>
        <p:spPr>
          <a:xfrm>
            <a:off x="3048120" y="1066680"/>
            <a:ext cx="31240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b="1" lang="en-US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52" name="CustomShape 9"/>
          <p:cNvSpPr/>
          <p:nvPr/>
        </p:nvSpPr>
        <p:spPr>
          <a:xfrm>
            <a:off x="5562720" y="1066680"/>
            <a:ext cx="457200" cy="45720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</p:sp>
      <p:sp>
        <p:nvSpPr>
          <p:cNvPr id="53" name="CustomShape 10"/>
          <p:cNvSpPr/>
          <p:nvPr/>
        </p:nvSpPr>
        <p:spPr>
          <a:xfrm>
            <a:off x="5587920" y="1079640"/>
            <a:ext cx="405000" cy="39204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</p:sp>
      <p:sp>
        <p:nvSpPr>
          <p:cNvPr id="54" name="CustomShape 11"/>
          <p:cNvSpPr/>
          <p:nvPr/>
        </p:nvSpPr>
        <p:spPr>
          <a:xfrm>
            <a:off x="5627520" y="1131840"/>
            <a:ext cx="327240" cy="7776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</p:sp>
      <p:sp>
        <p:nvSpPr>
          <p:cNvPr id="55" name="CustomShape 12"/>
          <p:cNvSpPr/>
          <p:nvPr/>
        </p:nvSpPr>
        <p:spPr>
          <a:xfrm>
            <a:off x="5627520" y="1224000"/>
            <a:ext cx="327240" cy="7776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</p:sp>
      <p:sp>
        <p:nvSpPr>
          <p:cNvPr id="56" name="CustomShape 13"/>
          <p:cNvSpPr/>
          <p:nvPr/>
        </p:nvSpPr>
        <p:spPr>
          <a:xfrm>
            <a:off x="5627520" y="1314360"/>
            <a:ext cx="327240" cy="7776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</p:sp>
      <p:sp>
        <p:nvSpPr>
          <p:cNvPr id="57" name="CustomShape 1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58" name="CustomShape 1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59" name="CustomShape 1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60" name="CustomShape 1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61" name="CustomShape 1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7" nodeType="tmRoot" restart="never">
          <p:childTnLst>
            <p:seq>
              <p:cTn id="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63" name="CustomShape 2"/>
          <p:cNvSpPr/>
          <p:nvPr/>
        </p:nvSpPr>
        <p:spPr>
          <a:xfrm>
            <a:off x="3429000" y="236232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Share</a:t>
            </a:r>
            <a:endParaRPr/>
          </a:p>
        </p:txBody>
      </p:sp>
      <p:sp>
        <p:nvSpPr>
          <p:cNvPr id="64" name="CustomShape 3"/>
          <p:cNvSpPr/>
          <p:nvPr/>
        </p:nvSpPr>
        <p:spPr>
          <a:xfrm>
            <a:off x="4724280" y="2362320"/>
            <a:ext cx="1067040" cy="6858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Browse</a:t>
            </a:r>
            <a:endParaRPr/>
          </a:p>
        </p:txBody>
      </p:sp>
      <p:sp>
        <p:nvSpPr>
          <p:cNvPr id="65" name="CustomShape 4"/>
          <p:cNvSpPr/>
          <p:nvPr/>
        </p:nvSpPr>
        <p:spPr>
          <a:xfrm>
            <a:off x="3429000" y="3200400"/>
            <a:ext cx="106668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Associate</a:t>
            </a:r>
            <a:endParaRPr/>
          </a:p>
        </p:txBody>
      </p:sp>
      <p:sp>
        <p:nvSpPr>
          <p:cNvPr id="66" name="CustomShape 5"/>
          <p:cNvSpPr/>
          <p:nvPr/>
        </p:nvSpPr>
        <p:spPr>
          <a:xfrm>
            <a:off x="4724280" y="3200400"/>
            <a:ext cx="1067040" cy="685800"/>
          </a:xfrm>
          <a:prstGeom prst="ellipse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Configure</a:t>
            </a:r>
            <a:endParaRPr/>
          </a:p>
        </p:txBody>
      </p:sp>
      <p:sp>
        <p:nvSpPr>
          <p:cNvPr id="67" name="CustomShape 6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Butterfly</a:t>
            </a:r>
            <a:endParaRPr/>
          </a:p>
        </p:txBody>
      </p:sp>
      <p:pic>
        <p:nvPicPr>
          <p:cNvPr descr="" id="68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120" y="914400"/>
            <a:ext cx="3124080" cy="4724280"/>
          </a:xfrm>
          <a:prstGeom prst="rect">
            <a:avLst/>
          </a:prstGeom>
        </p:spPr>
      </p:pic>
      <p:sp>
        <p:nvSpPr>
          <p:cNvPr id="69" name="CustomShape 7"/>
          <p:cNvSpPr/>
          <p:nvPr/>
        </p:nvSpPr>
        <p:spPr>
          <a:xfrm>
            <a:off x="3048120" y="1066680"/>
            <a:ext cx="31240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sp>
        <p:nvSpPr>
          <p:cNvPr id="70" name="CustomShape 8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71" name="CustomShape 9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72" name="CustomShape 10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73" name="CustomShape 11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74" name="CustomShape 12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75" name="CustomShape 1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76" name="CustomShape 14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77" name="CustomShape 15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78" name="CustomShape 16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79" name="CustomShape 17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80" name="CustomShape 18"/>
          <p:cNvSpPr/>
          <p:nvPr/>
        </p:nvSpPr>
        <p:spPr>
          <a:xfrm>
            <a:off x="6705720" y="2209680"/>
            <a:ext cx="2133360" cy="201204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User selects the area of the his network where he would like to look at recent social content.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Hold to drill in.</a:t>
            </a:r>
            <a:endParaRPr/>
          </a:p>
        </p:txBody>
      </p:sp>
    </p:spTree>
  </p:cSld>
  <p:timing>
    <p:tnLst>
      <p:par>
        <p:cTn dur="indefinite" id="9" nodeType="tmRoot" restart="never">
          <p:childTnLst>
            <p:seq>
              <p:cTn id="1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6705720" y="320040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enter</a:t>
            </a:r>
            <a:endParaRPr/>
          </a:p>
        </p:txBody>
      </p:sp>
      <p:sp>
        <p:nvSpPr>
          <p:cNvPr id="82" name="CustomShape 2"/>
          <p:cNvSpPr/>
          <p:nvPr/>
        </p:nvSpPr>
        <p:spPr>
          <a:xfrm>
            <a:off x="6705720" y="2133720"/>
            <a:ext cx="2133360" cy="9169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lang="en-US">
                <a:latin typeface="Segoe UI"/>
              </a:rPr>
              <a:t>Sharing Use Case</a:t>
            </a:r>
            <a:endParaRPr/>
          </a:p>
        </p:txBody>
      </p:sp>
      <p:sp>
        <p:nvSpPr>
          <p:cNvPr id="83" name="CustomShape 3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84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pic>
        <p:nvPicPr>
          <p:cNvPr descr="" id="85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86" name="CustomShape 5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87" name="CustomShape 6"/>
          <p:cNvSpPr/>
          <p:nvPr/>
        </p:nvSpPr>
        <p:spPr>
          <a:xfrm>
            <a:off x="3429000" y="4114800"/>
            <a:ext cx="243828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Freedom to be Truly Social</a:t>
            </a:r>
            <a:endParaRPr/>
          </a:p>
        </p:txBody>
      </p:sp>
      <p:sp>
        <p:nvSpPr>
          <p:cNvPr id="88" name="CustomShape 7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89" name="CustomShape 8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90" name="CustomShape 9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91" name="CustomShape 10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92" name="CustomShape 11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11" nodeType="tmRoot" restart="never">
          <p:childTnLst>
            <p:seq>
              <p:cTn id="1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94" name="CustomShape 2"/>
          <p:cNvSpPr/>
          <p:nvPr/>
        </p:nvSpPr>
        <p:spPr>
          <a:xfrm>
            <a:off x="6705720" y="2209680"/>
            <a:ext cx="2133360" cy="7333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edit; will show preview once finished.</a:t>
            </a:r>
            <a:endParaRPr/>
          </a:p>
        </p:txBody>
      </p:sp>
      <p:sp>
        <p:nvSpPr>
          <p:cNvPr id="95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96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&lt;Menu</a:t>
            </a:r>
            <a:endParaRPr/>
          </a:p>
        </p:txBody>
      </p:sp>
      <p:sp>
        <p:nvSpPr>
          <p:cNvPr id="97" name="CustomShape 5"/>
          <p:cNvSpPr/>
          <p:nvPr/>
        </p:nvSpPr>
        <p:spPr>
          <a:xfrm>
            <a:off x="3124080" y="17524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What?</a:t>
            </a:r>
            <a:endParaRPr/>
          </a:p>
        </p:txBody>
      </p:sp>
      <p:sp>
        <p:nvSpPr>
          <p:cNvPr id="98" name="CustomShape 6"/>
          <p:cNvSpPr/>
          <p:nvPr/>
        </p:nvSpPr>
        <p:spPr>
          <a:xfrm>
            <a:off x="3124080" y="26668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Who with?</a:t>
            </a:r>
            <a:endParaRPr/>
          </a:p>
        </p:txBody>
      </p:sp>
      <p:sp>
        <p:nvSpPr>
          <p:cNvPr id="99" name="CustomShape 7"/>
          <p:cNvSpPr/>
          <p:nvPr/>
        </p:nvSpPr>
        <p:spPr>
          <a:xfrm>
            <a:off x="3124080" y="35812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How?</a:t>
            </a:r>
            <a:endParaRPr/>
          </a:p>
        </p:txBody>
      </p:sp>
      <p:sp>
        <p:nvSpPr>
          <p:cNvPr id="100" name="CustomShape 8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Go!</a:t>
            </a:r>
            <a:endParaRPr/>
          </a:p>
        </p:txBody>
      </p:sp>
      <p:sp>
        <p:nvSpPr>
          <p:cNvPr id="101" name="CustomShape 9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02" name="CustomShape 10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03" name="CustomShape 11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04" name="CustomShape 12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05" name="CustomShape 13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13" nodeType="tmRoot" restart="never">
          <p:childTnLst>
            <p:seq>
              <p:cTn id="1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07" name="CustomShape 2"/>
          <p:cNvSpPr/>
          <p:nvPr/>
        </p:nvSpPr>
        <p:spPr>
          <a:xfrm>
            <a:off x="6705720" y="2209680"/>
            <a:ext cx="2133360" cy="7333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edit; will show preview once finished.</a:t>
            </a:r>
            <a:endParaRPr/>
          </a:p>
        </p:txBody>
      </p:sp>
      <p:sp>
        <p:nvSpPr>
          <p:cNvPr id="108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09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&lt;Menu</a:t>
            </a:r>
            <a:endParaRPr/>
          </a:p>
        </p:txBody>
      </p:sp>
      <p:sp>
        <p:nvSpPr>
          <p:cNvPr id="110" name="CustomShape 5"/>
          <p:cNvSpPr/>
          <p:nvPr/>
        </p:nvSpPr>
        <p:spPr>
          <a:xfrm>
            <a:off x="3124080" y="1752480"/>
            <a:ext cx="2971800" cy="76212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What?</a:t>
            </a:r>
            <a:endParaRPr/>
          </a:p>
        </p:txBody>
      </p:sp>
      <p:sp>
        <p:nvSpPr>
          <p:cNvPr id="111" name="CustomShape 6"/>
          <p:cNvSpPr/>
          <p:nvPr/>
        </p:nvSpPr>
        <p:spPr>
          <a:xfrm>
            <a:off x="3124080" y="26668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Who with?</a:t>
            </a:r>
            <a:endParaRPr/>
          </a:p>
        </p:txBody>
      </p:sp>
      <p:sp>
        <p:nvSpPr>
          <p:cNvPr id="112" name="CustomShape 7"/>
          <p:cNvSpPr/>
          <p:nvPr/>
        </p:nvSpPr>
        <p:spPr>
          <a:xfrm>
            <a:off x="3124080" y="35812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How?</a:t>
            </a:r>
            <a:endParaRPr/>
          </a:p>
        </p:txBody>
      </p:sp>
      <p:sp>
        <p:nvSpPr>
          <p:cNvPr id="113" name="CustomShape 8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Go!</a:t>
            </a:r>
            <a:endParaRPr/>
          </a:p>
        </p:txBody>
      </p:sp>
      <p:sp>
        <p:nvSpPr>
          <p:cNvPr id="114" name="CustomShape 9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15" name="CustomShape 10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16" name="CustomShape 11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17" name="CustomShape 12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18" name="CustomShape 13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15" nodeType="tmRoot" restart="never">
          <p:childTnLst>
            <p:seq>
              <p:cTn id="1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20" name="CustomShape 2"/>
          <p:cNvSpPr/>
          <p:nvPr/>
        </p:nvSpPr>
        <p:spPr>
          <a:xfrm>
            <a:off x="6705720" y="2209680"/>
            <a:ext cx="2133360" cy="94644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Default options, more can be added with modules.</a:t>
            </a:r>
            <a:endParaRPr/>
          </a:p>
          <a:p>
            <a:endParaRPr/>
          </a:p>
        </p:txBody>
      </p:sp>
      <p:sp>
        <p:nvSpPr>
          <p:cNvPr id="121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what?</a:t>
            </a:r>
            <a:endParaRPr/>
          </a:p>
        </p:txBody>
      </p:sp>
      <p:sp>
        <p:nvSpPr>
          <p:cNvPr id="122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123" name="CustomShape 5"/>
          <p:cNvSpPr/>
          <p:nvPr/>
        </p:nvSpPr>
        <p:spPr>
          <a:xfrm>
            <a:off x="3124080" y="21337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Status message</a:t>
            </a:r>
            <a:endParaRPr/>
          </a:p>
        </p:txBody>
      </p:sp>
      <p:sp>
        <p:nvSpPr>
          <p:cNvPr id="124" name="CustomShape 6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Done</a:t>
            </a:r>
            <a:endParaRPr/>
          </a:p>
        </p:txBody>
      </p:sp>
      <p:sp>
        <p:nvSpPr>
          <p:cNvPr id="125" name="CustomShape 7"/>
          <p:cNvSpPr/>
          <p:nvPr/>
        </p:nvSpPr>
        <p:spPr>
          <a:xfrm>
            <a:off x="3124080" y="26668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Picture</a:t>
            </a:r>
            <a:endParaRPr/>
          </a:p>
        </p:txBody>
      </p:sp>
      <p:sp>
        <p:nvSpPr>
          <p:cNvPr id="126" name="CustomShape 8"/>
          <p:cNvSpPr/>
          <p:nvPr/>
        </p:nvSpPr>
        <p:spPr>
          <a:xfrm>
            <a:off x="3124080" y="32004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Internet Link</a:t>
            </a:r>
            <a:endParaRPr/>
          </a:p>
        </p:txBody>
      </p:sp>
      <p:sp>
        <p:nvSpPr>
          <p:cNvPr id="127" name="CustomShape 9"/>
          <p:cNvSpPr/>
          <p:nvPr/>
        </p:nvSpPr>
        <p:spPr>
          <a:xfrm>
            <a:off x="3124080" y="37339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Video</a:t>
            </a:r>
            <a:endParaRPr/>
          </a:p>
        </p:txBody>
      </p:sp>
      <p:sp>
        <p:nvSpPr>
          <p:cNvPr id="128" name="CustomShape 10"/>
          <p:cNvSpPr/>
          <p:nvPr/>
        </p:nvSpPr>
        <p:spPr>
          <a:xfrm>
            <a:off x="3581280" y="1523880"/>
            <a:ext cx="213372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What would you like to share?</a:t>
            </a:r>
            <a:endParaRPr/>
          </a:p>
        </p:txBody>
      </p:sp>
      <p:sp>
        <p:nvSpPr>
          <p:cNvPr id="129" name="CustomShape 11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30" name="CustomShape 12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31" name="CustomShape 13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32" name="CustomShape 14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33" name="CustomShape 15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17" nodeType="tmRoot" restart="never">
          <p:childTnLst>
            <p:seq>
              <p:cTn id="1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35" name="CustomShape 2"/>
          <p:cNvSpPr/>
          <p:nvPr/>
        </p:nvSpPr>
        <p:spPr>
          <a:xfrm>
            <a:off x="6705720" y="220968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select/edit.</a:t>
            </a:r>
            <a:endParaRPr/>
          </a:p>
        </p:txBody>
      </p:sp>
      <p:sp>
        <p:nvSpPr>
          <p:cNvPr id="136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what?</a:t>
            </a:r>
            <a:endParaRPr/>
          </a:p>
        </p:txBody>
      </p:sp>
      <p:sp>
        <p:nvSpPr>
          <p:cNvPr id="137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138" name="CustomShape 5"/>
          <p:cNvSpPr/>
          <p:nvPr/>
        </p:nvSpPr>
        <p:spPr>
          <a:xfrm>
            <a:off x="3124080" y="2133720"/>
            <a:ext cx="2971800" cy="38088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Status message</a:t>
            </a:r>
            <a:endParaRPr/>
          </a:p>
        </p:txBody>
      </p:sp>
      <p:sp>
        <p:nvSpPr>
          <p:cNvPr id="139" name="CustomShape 6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Done</a:t>
            </a:r>
            <a:endParaRPr/>
          </a:p>
        </p:txBody>
      </p:sp>
      <p:sp>
        <p:nvSpPr>
          <p:cNvPr id="140" name="CustomShape 7"/>
          <p:cNvSpPr/>
          <p:nvPr/>
        </p:nvSpPr>
        <p:spPr>
          <a:xfrm>
            <a:off x="3124080" y="26668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Picture</a:t>
            </a:r>
            <a:endParaRPr/>
          </a:p>
        </p:txBody>
      </p:sp>
      <p:sp>
        <p:nvSpPr>
          <p:cNvPr id="141" name="CustomShape 8"/>
          <p:cNvSpPr/>
          <p:nvPr/>
        </p:nvSpPr>
        <p:spPr>
          <a:xfrm>
            <a:off x="3124080" y="32004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Internet Link</a:t>
            </a:r>
            <a:endParaRPr/>
          </a:p>
        </p:txBody>
      </p:sp>
      <p:sp>
        <p:nvSpPr>
          <p:cNvPr id="142" name="CustomShape 9"/>
          <p:cNvSpPr/>
          <p:nvPr/>
        </p:nvSpPr>
        <p:spPr>
          <a:xfrm>
            <a:off x="3124080" y="37339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Video</a:t>
            </a:r>
            <a:endParaRPr/>
          </a:p>
        </p:txBody>
      </p:sp>
      <p:sp>
        <p:nvSpPr>
          <p:cNvPr id="143" name="CustomShape 10"/>
          <p:cNvSpPr/>
          <p:nvPr/>
        </p:nvSpPr>
        <p:spPr>
          <a:xfrm>
            <a:off x="3581280" y="1523880"/>
            <a:ext cx="213372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What would you like to share?</a:t>
            </a:r>
            <a:endParaRPr/>
          </a:p>
        </p:txBody>
      </p:sp>
      <p:sp>
        <p:nvSpPr>
          <p:cNvPr id="144" name="CustomShape 11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45" name="CustomShape 12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46" name="CustomShape 13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47" name="CustomShape 14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48" name="CustomShape 15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19" nodeType="tmRoot" restart="never">
          <p:childTnLst>
            <p:seq>
              <p:cTn id="2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50" name="CustomShape 2"/>
          <p:cNvSpPr/>
          <p:nvPr/>
        </p:nvSpPr>
        <p:spPr>
          <a:xfrm>
            <a:off x="6705720" y="2209680"/>
            <a:ext cx="2133360" cy="329076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Once an option is selected then it expands and the other options are faded out.</a:t>
            </a:r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“done” to finish.</a:t>
            </a:r>
            <a:endParaRPr/>
          </a:p>
        </p:txBody>
      </p:sp>
      <p:sp>
        <p:nvSpPr>
          <p:cNvPr id="151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what?</a:t>
            </a:r>
            <a:endParaRPr/>
          </a:p>
        </p:txBody>
      </p:sp>
      <p:sp>
        <p:nvSpPr>
          <p:cNvPr id="152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153" name="CustomShape 5"/>
          <p:cNvSpPr/>
          <p:nvPr/>
        </p:nvSpPr>
        <p:spPr>
          <a:xfrm>
            <a:off x="3124080" y="1905120"/>
            <a:ext cx="2971800" cy="251460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Status message:</a:t>
            </a:r>
            <a:endParaRPr/>
          </a:p>
          <a:p>
            <a:endParaRPr/>
          </a:p>
          <a:p>
            <a:pPr>
              <a:buFont typeface="Arial"/>
              <a:buChar char="•"/>
            </a:pPr>
            <a:r>
              <a:rPr lang="en-US"/>
              <a:t>I’m designing a killer app 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for the iPhone!</a:t>
            </a:r>
            <a:endParaRPr/>
          </a:p>
        </p:txBody>
      </p:sp>
      <p:sp>
        <p:nvSpPr>
          <p:cNvPr id="154" name="CustomShape 6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Done</a:t>
            </a:r>
            <a:endParaRPr/>
          </a:p>
        </p:txBody>
      </p:sp>
      <p:sp>
        <p:nvSpPr>
          <p:cNvPr id="155" name="CustomShape 7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56" name="CustomShape 8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57" name="CustomShape 9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58" name="CustomShape 10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59" name="CustomShape 11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21" nodeType="tmRoot" restart="never">
          <p:childTnLst>
            <p:seq>
              <p:cTn id="2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61" name="CustomShape 2"/>
          <p:cNvSpPr/>
          <p:nvPr/>
        </p:nvSpPr>
        <p:spPr>
          <a:xfrm>
            <a:off x="6705720" y="1981080"/>
            <a:ext cx="2133360" cy="13726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Will show preview once option is finished.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“who with” to select recipients.</a:t>
            </a:r>
            <a:endParaRPr/>
          </a:p>
        </p:txBody>
      </p:sp>
      <p:sp>
        <p:nvSpPr>
          <p:cNvPr id="162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63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&lt;Menu</a:t>
            </a:r>
            <a:endParaRPr/>
          </a:p>
        </p:txBody>
      </p:sp>
      <p:sp>
        <p:nvSpPr>
          <p:cNvPr id="164" name="CustomShape 5"/>
          <p:cNvSpPr/>
          <p:nvPr/>
        </p:nvSpPr>
        <p:spPr>
          <a:xfrm>
            <a:off x="3124080" y="17524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Status Message: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I’m designing a killer app…</a:t>
            </a:r>
            <a:endParaRPr/>
          </a:p>
        </p:txBody>
      </p:sp>
      <p:sp>
        <p:nvSpPr>
          <p:cNvPr id="165" name="CustomShape 6"/>
          <p:cNvSpPr/>
          <p:nvPr/>
        </p:nvSpPr>
        <p:spPr>
          <a:xfrm>
            <a:off x="3124080" y="2666880"/>
            <a:ext cx="2971800" cy="76212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Who with?</a:t>
            </a:r>
            <a:endParaRPr/>
          </a:p>
        </p:txBody>
      </p:sp>
      <p:sp>
        <p:nvSpPr>
          <p:cNvPr id="166" name="CustomShape 7"/>
          <p:cNvSpPr/>
          <p:nvPr/>
        </p:nvSpPr>
        <p:spPr>
          <a:xfrm>
            <a:off x="3124080" y="35812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How?</a:t>
            </a:r>
            <a:endParaRPr/>
          </a:p>
        </p:txBody>
      </p:sp>
      <p:sp>
        <p:nvSpPr>
          <p:cNvPr id="167" name="CustomShape 8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Go!</a:t>
            </a:r>
            <a:endParaRPr/>
          </a:p>
        </p:txBody>
      </p:sp>
      <p:sp>
        <p:nvSpPr>
          <p:cNvPr id="168" name="CustomShape 9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69" name="CustomShape 10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70" name="CustomShape 11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71" name="CustomShape 12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72" name="CustomShape 13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23" nodeType="tmRoot" restart="never">
          <p:childTnLst>
            <p:seq>
              <p:cTn id="2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74" name="CustomShape 2"/>
          <p:cNvSpPr/>
          <p:nvPr/>
        </p:nvSpPr>
        <p:spPr>
          <a:xfrm>
            <a:off x="3581280" y="1523880"/>
            <a:ext cx="213372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Who would you like to share with?</a:t>
            </a:r>
            <a:endParaRPr/>
          </a:p>
        </p:txBody>
      </p:sp>
      <p:sp>
        <p:nvSpPr>
          <p:cNvPr id="175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176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who with?</a:t>
            </a:r>
            <a:endParaRPr/>
          </a:p>
        </p:txBody>
      </p:sp>
      <p:sp>
        <p:nvSpPr>
          <p:cNvPr id="177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178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179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180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181" name="CustomShape 9"/>
          <p:cNvSpPr/>
          <p:nvPr/>
        </p:nvSpPr>
        <p:spPr>
          <a:xfrm>
            <a:off x="6705720" y="2209680"/>
            <a:ext cx="2133360" cy="307764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This is the customizable privacy model.  Contacts are all organized within the model under “My World” in the main menu in order to facilitate real relationship classifications.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Hold to drill in.</a:t>
            </a:r>
            <a:endParaRPr/>
          </a:p>
        </p:txBody>
      </p:sp>
      <p:sp>
        <p:nvSpPr>
          <p:cNvPr id="182" name="CustomShape 10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183" name="CustomShape 11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84" name="CustomShape 12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185" name="CustomShape 13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186" name="CustomShape 14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187" name="CustomShape 15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25" nodeType="tmRoot" restart="never">
          <p:childTnLst>
            <p:seq>
              <p:cTn id="2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189" name="CustomShape 2"/>
          <p:cNvSpPr/>
          <p:nvPr/>
        </p:nvSpPr>
        <p:spPr>
          <a:xfrm>
            <a:off x="3581280" y="1523880"/>
            <a:ext cx="213372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Who would you like to share with?</a:t>
            </a:r>
            <a:endParaRPr/>
          </a:p>
        </p:txBody>
      </p:sp>
      <p:sp>
        <p:nvSpPr>
          <p:cNvPr id="190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191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who with?</a:t>
            </a:r>
            <a:endParaRPr/>
          </a:p>
        </p:txBody>
      </p:sp>
      <p:sp>
        <p:nvSpPr>
          <p:cNvPr id="192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193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194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195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196" name="CustomShape 9"/>
          <p:cNvSpPr/>
          <p:nvPr/>
        </p:nvSpPr>
        <p:spPr>
          <a:xfrm>
            <a:off x="6705720" y="312408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Hold to drill in.</a:t>
            </a:r>
            <a:endParaRPr/>
          </a:p>
        </p:txBody>
      </p:sp>
      <p:sp>
        <p:nvSpPr>
          <p:cNvPr id="197" name="CustomShape 10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198" name="CustomShape 11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199" name="CustomShape 12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00" name="CustomShape 13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01" name="CustomShape 14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02" name="CustomShape 15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27" nodeType="tmRoot" restart="never">
          <p:childTnLst>
            <p:seq>
              <p:cTn id="2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04" name="CustomShape 2"/>
          <p:cNvSpPr/>
          <p:nvPr/>
        </p:nvSpPr>
        <p:spPr>
          <a:xfrm>
            <a:off x="3581280" y="1371600"/>
            <a:ext cx="213372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Who would you like to share with?</a:t>
            </a:r>
            <a:endParaRPr/>
          </a:p>
        </p:txBody>
      </p:sp>
      <p:sp>
        <p:nvSpPr>
          <p:cNvPr id="205" name="CustomShape 3"/>
          <p:cNvSpPr/>
          <p:nvPr/>
        </p:nvSpPr>
        <p:spPr>
          <a:xfrm>
            <a:off x="3276720" y="1981080"/>
            <a:ext cx="2666880" cy="266724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206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who with?</a:t>
            </a:r>
            <a:endParaRPr/>
          </a:p>
        </p:txBody>
      </p:sp>
      <p:sp>
        <p:nvSpPr>
          <p:cNvPr id="207" name="CustomShape 5"/>
          <p:cNvSpPr/>
          <p:nvPr/>
        </p:nvSpPr>
        <p:spPr>
          <a:xfrm>
            <a:off x="3429000" y="205740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208" name="CustomShape 6"/>
          <p:cNvSpPr/>
          <p:nvPr/>
        </p:nvSpPr>
        <p:spPr>
          <a:xfrm>
            <a:off x="3657600" y="236232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209" name="CustomShape 7"/>
          <p:cNvSpPr/>
          <p:nvPr/>
        </p:nvSpPr>
        <p:spPr>
          <a:xfrm>
            <a:off x="3657600" y="342900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210" name="CustomShape 8"/>
          <p:cNvSpPr/>
          <p:nvPr/>
        </p:nvSpPr>
        <p:spPr>
          <a:xfrm>
            <a:off x="6705720" y="2057400"/>
            <a:ext cx="2133360" cy="13726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toggle selection.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Double tap to zoom back out, or tap Done to continue.</a:t>
            </a:r>
            <a:endParaRPr/>
          </a:p>
        </p:txBody>
      </p:sp>
      <p:sp>
        <p:nvSpPr>
          <p:cNvPr id="211" name="CustomShape 9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212" name="CustomShape 10"/>
          <p:cNvSpPr/>
          <p:nvPr/>
        </p:nvSpPr>
        <p:spPr>
          <a:xfrm>
            <a:off x="3124080" y="1905120"/>
            <a:ext cx="2971800" cy="27432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213" name="CustomShape 11"/>
          <p:cNvSpPr/>
          <p:nvPr/>
        </p:nvSpPr>
        <p:spPr>
          <a:xfrm>
            <a:off x="3505320" y="2209680"/>
            <a:ext cx="106668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Coworkers</a:t>
            </a:r>
            <a:endParaRPr/>
          </a:p>
        </p:txBody>
      </p:sp>
      <p:sp>
        <p:nvSpPr>
          <p:cNvPr id="214" name="CustomShape 12"/>
          <p:cNvSpPr/>
          <p:nvPr/>
        </p:nvSpPr>
        <p:spPr>
          <a:xfrm>
            <a:off x="4648320" y="2209680"/>
            <a:ext cx="106668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Customer</a:t>
            </a:r>
            <a:endParaRPr/>
          </a:p>
          <a:p>
            <a:pPr algn="ctr">
              <a:buFont typeface="Arial"/>
              <a:buChar char="•"/>
            </a:pPr>
            <a:r>
              <a:rPr lang="en-US" sz="1000"/>
              <a:t>Contacts</a:t>
            </a:r>
            <a:endParaRPr/>
          </a:p>
        </p:txBody>
      </p:sp>
      <p:sp>
        <p:nvSpPr>
          <p:cNvPr id="215" name="CustomShape 13"/>
          <p:cNvSpPr/>
          <p:nvPr/>
        </p:nvSpPr>
        <p:spPr>
          <a:xfrm>
            <a:off x="3200400" y="2895480"/>
            <a:ext cx="106668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Project Team</a:t>
            </a:r>
            <a:endParaRPr/>
          </a:p>
        </p:txBody>
      </p:sp>
      <p:sp>
        <p:nvSpPr>
          <p:cNvPr id="216" name="CustomShape 14"/>
          <p:cNvSpPr/>
          <p:nvPr/>
        </p:nvSpPr>
        <p:spPr>
          <a:xfrm>
            <a:off x="4343400" y="2895480"/>
            <a:ext cx="1066680" cy="6858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Business</a:t>
            </a:r>
            <a:endParaRPr/>
          </a:p>
          <a:p>
            <a:pPr algn="ctr">
              <a:buFont typeface="Arial"/>
              <a:buChar char="•"/>
            </a:pPr>
            <a:r>
              <a:rPr lang="en-US" sz="1000"/>
              <a:t>Partners</a:t>
            </a:r>
            <a:endParaRPr/>
          </a:p>
        </p:txBody>
      </p:sp>
      <p:sp>
        <p:nvSpPr>
          <p:cNvPr id="217" name="CustomShape 15"/>
          <p:cNvSpPr/>
          <p:nvPr/>
        </p:nvSpPr>
        <p:spPr>
          <a:xfrm>
            <a:off x="3809880" y="3581280"/>
            <a:ext cx="106704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Others?</a:t>
            </a:r>
            <a:endParaRPr/>
          </a:p>
        </p:txBody>
      </p:sp>
      <p:sp>
        <p:nvSpPr>
          <p:cNvPr id="218" name="CustomShape 16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Done</a:t>
            </a:r>
            <a:endParaRPr/>
          </a:p>
        </p:txBody>
      </p:sp>
      <p:sp>
        <p:nvSpPr>
          <p:cNvPr id="219" name="CustomShape 17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20" name="CustomShape 18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21" name="CustomShape 19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22" name="CustomShape 20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23" name="CustomShape 21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29" nodeType="tmRoot" restart="never">
          <p:childTnLst>
            <p:seq>
              <p:cTn id="3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25" name="CustomShape 2"/>
          <p:cNvSpPr/>
          <p:nvPr/>
        </p:nvSpPr>
        <p:spPr>
          <a:xfrm>
            <a:off x="6705720" y="419112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edit;</a:t>
            </a:r>
            <a:endParaRPr/>
          </a:p>
        </p:txBody>
      </p:sp>
      <p:sp>
        <p:nvSpPr>
          <p:cNvPr id="226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27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&lt;Menu</a:t>
            </a:r>
            <a:endParaRPr/>
          </a:p>
        </p:txBody>
      </p:sp>
      <p:sp>
        <p:nvSpPr>
          <p:cNvPr id="228" name="CustomShape 5"/>
          <p:cNvSpPr/>
          <p:nvPr/>
        </p:nvSpPr>
        <p:spPr>
          <a:xfrm>
            <a:off x="3124080" y="17524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Status Message: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I’m designing a killer app…</a:t>
            </a:r>
            <a:endParaRPr/>
          </a:p>
        </p:txBody>
      </p:sp>
      <p:sp>
        <p:nvSpPr>
          <p:cNvPr id="229" name="CustomShape 6"/>
          <p:cNvSpPr/>
          <p:nvPr/>
        </p:nvSpPr>
        <p:spPr>
          <a:xfrm>
            <a:off x="3124080" y="26668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With Professional,Business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Partners.</a:t>
            </a:r>
            <a:endParaRPr/>
          </a:p>
        </p:txBody>
      </p:sp>
      <p:sp>
        <p:nvSpPr>
          <p:cNvPr id="230" name="CustomShape 7"/>
          <p:cNvSpPr/>
          <p:nvPr/>
        </p:nvSpPr>
        <p:spPr>
          <a:xfrm>
            <a:off x="3124080" y="3581280"/>
            <a:ext cx="2971800" cy="76212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How?</a:t>
            </a:r>
            <a:endParaRPr/>
          </a:p>
        </p:txBody>
      </p:sp>
      <p:sp>
        <p:nvSpPr>
          <p:cNvPr id="231" name="CustomShape 8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Go!</a:t>
            </a:r>
            <a:endParaRPr/>
          </a:p>
        </p:txBody>
      </p:sp>
      <p:sp>
        <p:nvSpPr>
          <p:cNvPr id="232" name="CustomShape 9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33" name="CustomShape 10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34" name="CustomShape 11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35" name="CustomShape 12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36" name="CustomShape 13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31" nodeType="tmRoot" restart="never">
          <p:childTnLst>
            <p:seq>
              <p:cTn id="3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38" name="CustomShape 2"/>
          <p:cNvSpPr/>
          <p:nvPr/>
        </p:nvSpPr>
        <p:spPr>
          <a:xfrm>
            <a:off x="6705720" y="1143000"/>
            <a:ext cx="2133360" cy="542196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Options are available according to facilities set up in “Config” section.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Facebook wall posts will have privacy restricted to specific contacts.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If a more broad context was selected, then options for restricted Twitter, LinkedIn, etc could be shown.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If the “world” was selected, then we could post to a blog, usenet group, or something else that is public.</a:t>
            </a:r>
            <a:endParaRPr/>
          </a:p>
          <a:p>
            <a:endParaRPr/>
          </a:p>
          <a:p>
            <a:endParaRPr/>
          </a:p>
        </p:txBody>
      </p:sp>
      <p:sp>
        <p:nvSpPr>
          <p:cNvPr id="239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how?</a:t>
            </a:r>
            <a:endParaRPr/>
          </a:p>
        </p:txBody>
      </p:sp>
      <p:sp>
        <p:nvSpPr>
          <p:cNvPr id="240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241" name="CustomShape 5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Email</a:t>
            </a:r>
            <a:endParaRPr/>
          </a:p>
        </p:txBody>
      </p:sp>
      <p:sp>
        <p:nvSpPr>
          <p:cNvPr id="242" name="CustomShape 6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Done</a:t>
            </a:r>
            <a:endParaRPr/>
          </a:p>
        </p:txBody>
      </p:sp>
      <p:sp>
        <p:nvSpPr>
          <p:cNvPr id="243" name="CustomShape 7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Text Message</a:t>
            </a:r>
            <a:endParaRPr/>
          </a:p>
        </p:txBody>
      </p:sp>
      <p:sp>
        <p:nvSpPr>
          <p:cNvPr id="244" name="CustomShape 8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Facebook, My Wall</a:t>
            </a:r>
            <a:endParaRPr/>
          </a:p>
        </p:txBody>
      </p:sp>
      <p:sp>
        <p:nvSpPr>
          <p:cNvPr id="245" name="CustomShape 9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Facebook, Inbox message</a:t>
            </a:r>
            <a:endParaRPr/>
          </a:p>
        </p:txBody>
      </p:sp>
      <p:sp>
        <p:nvSpPr>
          <p:cNvPr id="246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47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48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49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50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33" nodeType="tmRoot" restart="never">
          <p:childTnLst>
            <p:seq>
              <p:cTn id="3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52" name="CustomShape 2"/>
          <p:cNvSpPr/>
          <p:nvPr/>
        </p:nvSpPr>
        <p:spPr>
          <a:xfrm>
            <a:off x="6705720" y="2209680"/>
            <a:ext cx="2133360" cy="7333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toggle options on or off.</a:t>
            </a:r>
            <a:endParaRPr/>
          </a:p>
          <a:p>
            <a:endParaRPr/>
          </a:p>
        </p:txBody>
      </p:sp>
      <p:sp>
        <p:nvSpPr>
          <p:cNvPr id="253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Share, how?</a:t>
            </a:r>
            <a:endParaRPr/>
          </a:p>
        </p:txBody>
      </p:sp>
      <p:sp>
        <p:nvSpPr>
          <p:cNvPr id="254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255" name="CustomShape 5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Email</a:t>
            </a:r>
            <a:endParaRPr/>
          </a:p>
        </p:txBody>
      </p:sp>
      <p:sp>
        <p:nvSpPr>
          <p:cNvPr id="256" name="CustomShape 6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Done</a:t>
            </a:r>
            <a:endParaRPr/>
          </a:p>
        </p:txBody>
      </p:sp>
      <p:sp>
        <p:nvSpPr>
          <p:cNvPr id="257" name="CustomShape 7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Text Message</a:t>
            </a:r>
            <a:endParaRPr/>
          </a:p>
        </p:txBody>
      </p:sp>
      <p:sp>
        <p:nvSpPr>
          <p:cNvPr id="258" name="CustomShape 8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Facebook, My Wall</a:t>
            </a:r>
            <a:endParaRPr/>
          </a:p>
        </p:txBody>
      </p:sp>
      <p:sp>
        <p:nvSpPr>
          <p:cNvPr id="259" name="CustomShape 9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Facebook, Inbox message</a:t>
            </a:r>
            <a:endParaRPr/>
          </a:p>
        </p:txBody>
      </p:sp>
      <p:sp>
        <p:nvSpPr>
          <p:cNvPr id="260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61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62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63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64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35" nodeType="tmRoot" restart="never">
          <p:childTnLst>
            <p:seq>
              <p:cTn id="3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66" name="CustomShape 2"/>
          <p:cNvSpPr/>
          <p:nvPr/>
        </p:nvSpPr>
        <p:spPr>
          <a:xfrm>
            <a:off x="6705720" y="2819520"/>
            <a:ext cx="2133360" cy="222516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edit; will show preview once finished.</a:t>
            </a:r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Go to execute.</a:t>
            </a:r>
            <a:endParaRPr/>
          </a:p>
        </p:txBody>
      </p:sp>
      <p:sp>
        <p:nvSpPr>
          <p:cNvPr id="267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68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&lt;Menu</a:t>
            </a:r>
            <a:endParaRPr/>
          </a:p>
        </p:txBody>
      </p:sp>
      <p:sp>
        <p:nvSpPr>
          <p:cNvPr id="269" name="CustomShape 5"/>
          <p:cNvSpPr/>
          <p:nvPr/>
        </p:nvSpPr>
        <p:spPr>
          <a:xfrm>
            <a:off x="3124080" y="17524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Status Message: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I’m designing a killer app…</a:t>
            </a:r>
            <a:endParaRPr/>
          </a:p>
        </p:txBody>
      </p:sp>
      <p:sp>
        <p:nvSpPr>
          <p:cNvPr id="270" name="CustomShape 6"/>
          <p:cNvSpPr/>
          <p:nvPr/>
        </p:nvSpPr>
        <p:spPr>
          <a:xfrm>
            <a:off x="3124080" y="26668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With Professional,Business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Partners.</a:t>
            </a:r>
            <a:endParaRPr/>
          </a:p>
        </p:txBody>
      </p:sp>
      <p:sp>
        <p:nvSpPr>
          <p:cNvPr id="271" name="CustomShape 7"/>
          <p:cNvSpPr/>
          <p:nvPr/>
        </p:nvSpPr>
        <p:spPr>
          <a:xfrm>
            <a:off x="3124080" y="3581280"/>
            <a:ext cx="2971800" cy="76212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Via Facebook Wall and </a:t>
            </a:r>
            <a:endParaRPr/>
          </a:p>
          <a:p>
            <a:pPr>
              <a:buFont typeface="Arial"/>
              <a:buChar char="•"/>
            </a:pPr>
            <a:r>
              <a:rPr lang="en-US"/>
              <a:t>Text Message.</a:t>
            </a:r>
            <a:endParaRPr/>
          </a:p>
        </p:txBody>
      </p:sp>
      <p:sp>
        <p:nvSpPr>
          <p:cNvPr id="272" name="CustomShape 8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Go!</a:t>
            </a:r>
            <a:endParaRPr/>
          </a:p>
        </p:txBody>
      </p:sp>
      <p:sp>
        <p:nvSpPr>
          <p:cNvPr id="273" name="CustomShape 9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74" name="CustomShape 10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75" name="CustomShape 11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76" name="CustomShape 12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77" name="CustomShape 13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37" nodeType="tmRoot" restart="never">
          <p:childTnLst>
            <p:seq>
              <p:cTn id="3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79" name="CustomShape 2"/>
          <p:cNvSpPr/>
          <p:nvPr/>
        </p:nvSpPr>
        <p:spPr>
          <a:xfrm>
            <a:off x="6705720" y="2209680"/>
            <a:ext cx="2133360" cy="94644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Default options, more can be added with modules.</a:t>
            </a:r>
            <a:endParaRPr/>
          </a:p>
          <a:p>
            <a:endParaRPr/>
          </a:p>
        </p:txBody>
      </p:sp>
      <p:sp>
        <p:nvSpPr>
          <p:cNvPr id="280" name="CustomShape 3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Sharing!</a:t>
            </a:r>
            <a:endParaRPr/>
          </a:p>
        </p:txBody>
      </p:sp>
      <p:sp>
        <p:nvSpPr>
          <p:cNvPr id="281" name="CustomShape 4"/>
          <p:cNvSpPr/>
          <p:nvPr/>
        </p:nvSpPr>
        <p:spPr>
          <a:xfrm>
            <a:off x="3124080" y="990720"/>
            <a:ext cx="60984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&lt;Share</a:t>
            </a:r>
            <a:endParaRPr/>
          </a:p>
        </p:txBody>
      </p:sp>
      <p:sp>
        <p:nvSpPr>
          <p:cNvPr id="282" name="CustomShape 5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Done</a:t>
            </a:r>
            <a:endParaRPr/>
          </a:p>
        </p:txBody>
      </p:sp>
      <p:sp>
        <p:nvSpPr>
          <p:cNvPr id="283" name="CustomShape 6"/>
          <p:cNvSpPr/>
          <p:nvPr/>
        </p:nvSpPr>
        <p:spPr>
          <a:xfrm>
            <a:off x="3352680" y="1758960"/>
            <a:ext cx="2590920" cy="2864520"/>
          </a:xfrm>
          <a:prstGeom prst="rect">
            <a:avLst/>
          </a:prstGeom>
        </p:spPr>
        <p:txBody>
          <a:bodyPr bIns="46800" lIns="90000" rIns="90000" tIns="46800"/>
          <a:p>
            <a:pPr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Sending SMS message “…” to &lt;name&gt;, &lt;name&gt;, &lt;name&gt;…</a:t>
            </a:r>
            <a:endParaRPr/>
          </a:p>
          <a:p>
            <a:endParaRPr/>
          </a:p>
          <a:p>
            <a:pPr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Done!</a:t>
            </a:r>
            <a:endParaRPr/>
          </a:p>
          <a:p>
            <a:endParaRPr/>
          </a:p>
          <a:p>
            <a:pPr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Posting status message to Facebook wall with privacy limited to &lt;name&gt;, &lt;name&gt;, &lt;name&gt;…</a:t>
            </a:r>
            <a:endParaRPr/>
          </a:p>
          <a:p>
            <a:endParaRPr/>
          </a:p>
          <a:p>
            <a:pPr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Done!</a:t>
            </a:r>
            <a:endParaRPr/>
          </a:p>
        </p:txBody>
      </p:sp>
      <p:sp>
        <p:nvSpPr>
          <p:cNvPr id="284" name="CustomShape 7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85" name="CustomShape 8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86" name="CustomShape 9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87" name="CustomShape 10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88" name="CustomShape 11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39" nodeType="tmRoot" restart="never">
          <p:childTnLst>
            <p:seq>
              <p:cTn id="4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/>
          <p:cNvSpPr/>
          <p:nvPr/>
        </p:nvSpPr>
        <p:spPr>
          <a:xfrm>
            <a:off x="6705720" y="320040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enter</a:t>
            </a:r>
            <a:endParaRPr/>
          </a:p>
        </p:txBody>
      </p:sp>
      <p:sp>
        <p:nvSpPr>
          <p:cNvPr id="290" name="CustomShape 2"/>
          <p:cNvSpPr/>
          <p:nvPr/>
        </p:nvSpPr>
        <p:spPr>
          <a:xfrm>
            <a:off x="6553080" y="2133720"/>
            <a:ext cx="2362320" cy="9169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lang="en-US">
                <a:latin typeface="Segoe UI"/>
              </a:rPr>
              <a:t>My World Use Case</a:t>
            </a:r>
            <a:endParaRPr/>
          </a:p>
        </p:txBody>
      </p:sp>
      <p:sp>
        <p:nvSpPr>
          <p:cNvPr id="291" name="CustomShape 3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292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sp>
        <p:nvSpPr>
          <p:cNvPr id="293" name="CustomShape 5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294" name="CustomShape 6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295" name="CustomShape 7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296" name="CustomShape 8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297" name="CustomShape 9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pic>
        <p:nvPicPr>
          <p:cNvPr descr="" id="298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299" name="CustomShape 10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300" name="CustomShape 11"/>
          <p:cNvSpPr/>
          <p:nvPr/>
        </p:nvSpPr>
        <p:spPr>
          <a:xfrm>
            <a:off x="3429000" y="4114800"/>
            <a:ext cx="243828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Freedom to be Truly Social</a:t>
            </a:r>
            <a:endParaRPr/>
          </a:p>
        </p:txBody>
      </p:sp>
    </p:spTree>
  </p:cSld>
  <p:timing>
    <p:tnLst>
      <p:par>
        <p:cTn dur="indefinite" id="41" nodeType="tmRoot" restart="never">
          <p:childTnLst>
            <p:seq>
              <p:cTn id="4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02" name="CustomShape 2"/>
          <p:cNvSpPr/>
          <p:nvPr/>
        </p:nvSpPr>
        <p:spPr>
          <a:xfrm>
            <a:off x="3200400" y="1523880"/>
            <a:ext cx="274320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 u="sng">
                <a:latin typeface="Segoe UI"/>
              </a:rPr>
              <a:t>Click Here to add a contact</a:t>
            </a:r>
            <a:r>
              <a:rPr i="1" lang="en-US" sz="1400">
                <a:latin typeface="Segoe UI"/>
              </a:rPr>
              <a:t> or Select an area below</a:t>
            </a:r>
            <a:endParaRPr/>
          </a:p>
        </p:txBody>
      </p:sp>
      <p:sp>
        <p:nvSpPr>
          <p:cNvPr id="303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304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05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306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307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308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309" name="CustomShape 9"/>
          <p:cNvSpPr/>
          <p:nvPr/>
        </p:nvSpPr>
        <p:spPr>
          <a:xfrm>
            <a:off x="6705720" y="2209680"/>
            <a:ext cx="2133360" cy="26514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This is the customizable privacy model.  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Contacts and Modules are all classified within this model..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Hold to drill in.</a:t>
            </a:r>
            <a:endParaRPr/>
          </a:p>
        </p:txBody>
      </p:sp>
      <p:sp>
        <p:nvSpPr>
          <p:cNvPr id="310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11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12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13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14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43" nodeType="tmRoot" restart="never">
          <p:childTnLst>
            <p:seq>
              <p:cTn id="4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16" name="CustomShape 2"/>
          <p:cNvSpPr/>
          <p:nvPr/>
        </p:nvSpPr>
        <p:spPr>
          <a:xfrm>
            <a:off x="3200400" y="1523880"/>
            <a:ext cx="2743200" cy="520200"/>
          </a:xfrm>
          <a:prstGeom prst="rect">
            <a:avLst/>
          </a:prstGeom>
          <a:solidFill>
            <a:srgbClr val="ffff99"/>
          </a:solidFill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 u="sng">
                <a:latin typeface="Segoe UI"/>
              </a:rPr>
              <a:t>Click Here to add a contact</a:t>
            </a:r>
            <a:r>
              <a:rPr i="1" lang="en-US" sz="1400">
                <a:latin typeface="Segoe UI"/>
              </a:rPr>
              <a:t> or Select an area below</a:t>
            </a:r>
            <a:endParaRPr/>
          </a:p>
        </p:txBody>
      </p:sp>
      <p:sp>
        <p:nvSpPr>
          <p:cNvPr id="317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318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19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320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321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322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323" name="CustomShape 9"/>
          <p:cNvSpPr/>
          <p:nvPr/>
        </p:nvSpPr>
        <p:spPr>
          <a:xfrm>
            <a:off x="6705720" y="1600200"/>
            <a:ext cx="213336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select.</a:t>
            </a:r>
            <a:endParaRPr/>
          </a:p>
          <a:p>
            <a:endParaRPr/>
          </a:p>
        </p:txBody>
      </p:sp>
      <p:sp>
        <p:nvSpPr>
          <p:cNvPr id="324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25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26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27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28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45" nodeType="tmRoot" restart="never">
          <p:childTnLst>
            <p:seq>
              <p:cTn id="4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30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New Contact</a:t>
            </a:r>
            <a:endParaRPr/>
          </a:p>
        </p:txBody>
      </p:sp>
      <p:sp>
        <p:nvSpPr>
          <p:cNvPr id="331" name="CustomShape 3"/>
          <p:cNvSpPr/>
          <p:nvPr/>
        </p:nvSpPr>
        <p:spPr>
          <a:xfrm>
            <a:off x="6705720" y="1066680"/>
            <a:ext cx="2133360" cy="49957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butterfli keeps a metabase of contact information – probably with locally cached data.  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butterfli does not own the substance of the contact data – which would be owned by the linked resources. 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Linked resources are available according to which Modules are configured, i.e. the LinkedIn option will only be available if the LinkedIn module is installed and configured.</a:t>
            </a:r>
            <a:endParaRPr/>
          </a:p>
          <a:p>
            <a:endParaRPr/>
          </a:p>
        </p:txBody>
      </p:sp>
      <p:sp>
        <p:nvSpPr>
          <p:cNvPr id="332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33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34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35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36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337" name="CustomShape 9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iPhone Contact</a:t>
            </a:r>
            <a:endParaRPr/>
          </a:p>
        </p:txBody>
      </p:sp>
      <p:sp>
        <p:nvSpPr>
          <p:cNvPr id="338" name="CustomShape 10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 Contact</a:t>
            </a:r>
            <a:endParaRPr/>
          </a:p>
        </p:txBody>
      </p:sp>
      <p:sp>
        <p:nvSpPr>
          <p:cNvPr id="339" name="CustomShape 11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LinkedIn Contact</a:t>
            </a:r>
            <a:endParaRPr/>
          </a:p>
        </p:txBody>
      </p:sp>
      <p:sp>
        <p:nvSpPr>
          <p:cNvPr id="340" name="CustomShape 12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Google Profile</a:t>
            </a:r>
            <a:endParaRPr/>
          </a:p>
        </p:txBody>
      </p:sp>
      <p:sp>
        <p:nvSpPr>
          <p:cNvPr id="341" name="CustomShape 13"/>
          <p:cNvSpPr/>
          <p:nvPr/>
        </p:nvSpPr>
        <p:spPr>
          <a:xfrm>
            <a:off x="3124080" y="38862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Etc…</a:t>
            </a:r>
            <a:endParaRPr/>
          </a:p>
        </p:txBody>
      </p:sp>
      <p:sp>
        <p:nvSpPr>
          <p:cNvPr id="342" name="CustomShape 14"/>
          <p:cNvSpPr/>
          <p:nvPr/>
        </p:nvSpPr>
        <p:spPr>
          <a:xfrm>
            <a:off x="5257800" y="4648320"/>
            <a:ext cx="8380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Continue</a:t>
            </a:r>
            <a:endParaRPr/>
          </a:p>
        </p:txBody>
      </p:sp>
    </p:spTree>
  </p:cSld>
  <p:timing>
    <p:tnLst>
      <p:par>
        <p:cTn dur="indefinite" id="47" nodeType="tmRoot" restart="never">
          <p:childTnLst>
            <p:seq>
              <p:cTn id="4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44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New Contact</a:t>
            </a:r>
            <a:endParaRPr/>
          </a:p>
        </p:txBody>
      </p:sp>
      <p:sp>
        <p:nvSpPr>
          <p:cNvPr id="345" name="CustomShape 3"/>
          <p:cNvSpPr/>
          <p:nvPr/>
        </p:nvSpPr>
        <p:spPr>
          <a:xfrm>
            <a:off x="6705720" y="1844640"/>
            <a:ext cx="213336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Hold to edit</a:t>
            </a:r>
            <a:endParaRPr/>
          </a:p>
          <a:p>
            <a:endParaRPr/>
          </a:p>
        </p:txBody>
      </p:sp>
      <p:sp>
        <p:nvSpPr>
          <p:cNvPr id="346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47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48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49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50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351" name="CustomShape 9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iPhone Contact</a:t>
            </a:r>
            <a:endParaRPr/>
          </a:p>
        </p:txBody>
      </p:sp>
      <p:sp>
        <p:nvSpPr>
          <p:cNvPr id="352" name="CustomShape 10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 Contact</a:t>
            </a:r>
            <a:endParaRPr/>
          </a:p>
        </p:txBody>
      </p:sp>
      <p:sp>
        <p:nvSpPr>
          <p:cNvPr id="353" name="CustomShape 11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LinkedIn Contact</a:t>
            </a:r>
            <a:endParaRPr/>
          </a:p>
        </p:txBody>
      </p:sp>
      <p:sp>
        <p:nvSpPr>
          <p:cNvPr id="354" name="CustomShape 12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Google Profile</a:t>
            </a:r>
            <a:endParaRPr/>
          </a:p>
        </p:txBody>
      </p:sp>
      <p:sp>
        <p:nvSpPr>
          <p:cNvPr id="355" name="CustomShape 13"/>
          <p:cNvSpPr/>
          <p:nvPr/>
        </p:nvSpPr>
        <p:spPr>
          <a:xfrm>
            <a:off x="3124080" y="38862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Etc…</a:t>
            </a:r>
            <a:endParaRPr/>
          </a:p>
        </p:txBody>
      </p:sp>
      <p:sp>
        <p:nvSpPr>
          <p:cNvPr id="356" name="CustomShape 14"/>
          <p:cNvSpPr/>
          <p:nvPr/>
        </p:nvSpPr>
        <p:spPr>
          <a:xfrm>
            <a:off x="5257800" y="4648320"/>
            <a:ext cx="838080" cy="2286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>
                <a:solidFill>
                  <a:srgbClr val="dddddd"/>
                </a:solidFill>
              </a:rPr>
              <a:t>Continue</a:t>
            </a:r>
            <a:endParaRPr/>
          </a:p>
        </p:txBody>
      </p:sp>
    </p:spTree>
  </p:cSld>
  <p:timing>
    <p:tnLst>
      <p:par>
        <p:cTn dur="indefinite" id="49" nodeType="tmRoot" restart="never">
          <p:childTnLst>
            <p:seq>
              <p:cTn id="5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357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120" y="914400"/>
            <a:ext cx="3149640" cy="4724280"/>
          </a:xfrm>
          <a:prstGeom prst="rect">
            <a:avLst/>
          </a:prstGeom>
        </p:spPr>
      </p:pic>
      <p:sp>
        <p:nvSpPr>
          <p:cNvPr id="358" name="CustomShape 1"/>
          <p:cNvSpPr/>
          <p:nvPr/>
        </p:nvSpPr>
        <p:spPr>
          <a:xfrm>
            <a:off x="6705720" y="3521160"/>
            <a:ext cx="213336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</a:t>
            </a:r>
            <a:endParaRPr/>
          </a:p>
          <a:p>
            <a:endParaRPr/>
          </a:p>
        </p:txBody>
      </p:sp>
      <p:sp>
        <p:nvSpPr>
          <p:cNvPr id="359" name="CustomShape 2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60" name="CustomShape 3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61" name="CustomShape 4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62" name="CustomShape 5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63" name="CustomShape 6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364" name="CustomShape 7"/>
          <p:cNvSpPr/>
          <p:nvPr/>
        </p:nvSpPr>
        <p:spPr>
          <a:xfrm>
            <a:off x="3048120" y="3505320"/>
            <a:ext cx="2971800" cy="380880"/>
          </a:xfrm>
          <a:prstGeom prst="rect">
            <a:avLst/>
          </a:prstGeom>
          <a:ln w="57240">
            <a:solidFill>
              <a:srgbClr val="ffff00"/>
            </a:solidFill>
            <a:miter/>
          </a:ln>
        </p:spPr>
      </p:sp>
    </p:spTree>
  </p:cSld>
  <p:timing>
    <p:tnLst>
      <p:par>
        <p:cTn dur="indefinite" id="51" nodeType="tmRoot" restart="never">
          <p:childTnLst>
            <p:seq>
              <p:cTn id="5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66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New Contact</a:t>
            </a:r>
            <a:endParaRPr/>
          </a:p>
        </p:txBody>
      </p:sp>
      <p:sp>
        <p:nvSpPr>
          <p:cNvPr id="367" name="CustomShape 3"/>
          <p:cNvSpPr/>
          <p:nvPr/>
        </p:nvSpPr>
        <p:spPr>
          <a:xfrm>
            <a:off x="6705720" y="1079640"/>
            <a:ext cx="2133360" cy="47826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Configured options will show a preview of information stored, picture, numbers, address, etc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iPhone contact is required and will serve as pr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view or edit details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Or tap another option to set up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Primary email will be selectable option from email addresses pulled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continue</a:t>
            </a:r>
            <a:endParaRPr/>
          </a:p>
        </p:txBody>
      </p:sp>
      <p:sp>
        <p:nvSpPr>
          <p:cNvPr id="368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69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70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71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72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373" name="CustomShape 9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 sz="1000"/>
              <a:t>iPhone Contact:</a:t>
            </a:r>
            <a:r>
              <a:rPr lang="en-US" sz="1000"/>
              <a:t>
</a:t>
            </a:r>
            <a:r>
              <a:rPr lang="en-US" sz="1000"/>
              <a:t>Bill Addington</a:t>
            </a:r>
            <a:endParaRPr/>
          </a:p>
        </p:txBody>
      </p:sp>
      <p:sp>
        <p:nvSpPr>
          <p:cNvPr id="374" name="CustomShape 10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Facebook Friend</a:t>
            </a:r>
            <a:endParaRPr/>
          </a:p>
        </p:txBody>
      </p:sp>
      <p:sp>
        <p:nvSpPr>
          <p:cNvPr id="375" name="CustomShape 11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LinkedIn Connection</a:t>
            </a:r>
            <a:endParaRPr/>
          </a:p>
        </p:txBody>
      </p:sp>
      <p:sp>
        <p:nvSpPr>
          <p:cNvPr id="376" name="CustomShape 12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Primary email…</a:t>
            </a:r>
            <a:endParaRPr/>
          </a:p>
        </p:txBody>
      </p:sp>
      <p:sp>
        <p:nvSpPr>
          <p:cNvPr id="377" name="CustomShape 13"/>
          <p:cNvSpPr/>
          <p:nvPr/>
        </p:nvSpPr>
        <p:spPr>
          <a:xfrm>
            <a:off x="3124080" y="38862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/>
              <a:t>Etc…</a:t>
            </a:r>
            <a:endParaRPr/>
          </a:p>
        </p:txBody>
      </p:sp>
      <p:sp>
        <p:nvSpPr>
          <p:cNvPr id="378" name="CustomShape 14"/>
          <p:cNvSpPr/>
          <p:nvPr/>
        </p:nvSpPr>
        <p:spPr>
          <a:xfrm>
            <a:off x="5257800" y="4648320"/>
            <a:ext cx="838080" cy="22860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Continue</a:t>
            </a:r>
            <a:endParaRPr/>
          </a:p>
        </p:txBody>
      </p:sp>
    </p:spTree>
  </p:cSld>
  <p:timing>
    <p:tnLst>
      <p:par>
        <p:cTn dur="indefinite" id="53" nodeType="tmRoot" restart="never">
          <p:childTnLst>
            <p:seq>
              <p:cTn id="5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80" name="CustomShape 2"/>
          <p:cNvSpPr/>
          <p:nvPr/>
        </p:nvSpPr>
        <p:spPr>
          <a:xfrm>
            <a:off x="3200400" y="1523880"/>
            <a:ext cx="274320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What kind of contact is &lt;name&gt;?</a:t>
            </a:r>
            <a:endParaRPr/>
          </a:p>
        </p:txBody>
      </p:sp>
      <p:sp>
        <p:nvSpPr>
          <p:cNvPr id="381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382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New Contact</a:t>
            </a:r>
            <a:endParaRPr/>
          </a:p>
        </p:txBody>
      </p:sp>
      <p:sp>
        <p:nvSpPr>
          <p:cNvPr id="383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384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385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386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387" name="CustomShape 9"/>
          <p:cNvSpPr/>
          <p:nvPr/>
        </p:nvSpPr>
        <p:spPr>
          <a:xfrm>
            <a:off x="6705720" y="990720"/>
            <a:ext cx="2133360" cy="47826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toggle selection.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Hold to drill in.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Multiple selections can be made. 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BUT…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Direct association with a less-trusted (outer) circle should negate association with a more trusted circle if selected.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Direct association with an inner circle implies indirect association with all surrounding circles.</a:t>
            </a:r>
            <a:endParaRPr/>
          </a:p>
        </p:txBody>
      </p:sp>
      <p:sp>
        <p:nvSpPr>
          <p:cNvPr id="388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389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390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91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392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393" name="CustomShape 15"/>
          <p:cNvSpPr/>
          <p:nvPr/>
        </p:nvSpPr>
        <p:spPr>
          <a:xfrm>
            <a:off x="5486400" y="4648320"/>
            <a:ext cx="609480" cy="228600"/>
          </a:xfrm>
          <a:prstGeom prst="rect">
            <a:avLst/>
          </a:prstGeom>
          <a:solidFill>
            <a:srgbClr val="ffff99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400"/>
              <a:t>Done</a:t>
            </a:r>
            <a:endParaRPr/>
          </a:p>
        </p:txBody>
      </p:sp>
    </p:spTree>
  </p:cSld>
  <p:timing>
    <p:tnLst>
      <p:par>
        <p:cTn dur="indefinite" id="55" nodeType="tmRoot" restart="never">
          <p:childTnLst>
            <p:seq>
              <p:cTn id="5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395" name="CustomShape 2"/>
          <p:cNvSpPr/>
          <p:nvPr/>
        </p:nvSpPr>
        <p:spPr>
          <a:xfrm>
            <a:off x="3200400" y="1523880"/>
            <a:ext cx="274320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 u="sng">
                <a:latin typeface="Segoe UI"/>
              </a:rPr>
              <a:t>Click Here to add a contact</a:t>
            </a:r>
            <a:r>
              <a:rPr i="1" lang="en-US" sz="1400">
                <a:latin typeface="Segoe UI"/>
              </a:rPr>
              <a:t> or Select an area below</a:t>
            </a:r>
            <a:endParaRPr/>
          </a:p>
        </p:txBody>
      </p:sp>
      <p:sp>
        <p:nvSpPr>
          <p:cNvPr id="396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397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398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399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400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401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402" name="CustomShape 9"/>
          <p:cNvSpPr/>
          <p:nvPr/>
        </p:nvSpPr>
        <p:spPr>
          <a:xfrm>
            <a:off x="6705720" y="2209680"/>
            <a:ext cx="2133360" cy="7333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Back to main My World page.</a:t>
            </a:r>
            <a:endParaRPr/>
          </a:p>
          <a:p>
            <a:endParaRPr/>
          </a:p>
        </p:txBody>
      </p:sp>
      <p:sp>
        <p:nvSpPr>
          <p:cNvPr id="403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04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05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06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07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57" nodeType="tmRoot" restart="never">
          <p:childTnLst>
            <p:seq>
              <p:cTn id="5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09" name="CustomShape 2"/>
          <p:cNvSpPr/>
          <p:nvPr/>
        </p:nvSpPr>
        <p:spPr>
          <a:xfrm>
            <a:off x="3200400" y="1523880"/>
            <a:ext cx="2743200" cy="5202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 u="sng">
                <a:latin typeface="Segoe UI"/>
              </a:rPr>
              <a:t>Click Here to add a contact</a:t>
            </a:r>
            <a:r>
              <a:rPr i="1" lang="en-US" sz="1400">
                <a:latin typeface="Segoe UI"/>
              </a:rPr>
              <a:t> or Select an area below</a:t>
            </a:r>
            <a:endParaRPr/>
          </a:p>
        </p:txBody>
      </p:sp>
      <p:sp>
        <p:nvSpPr>
          <p:cNvPr id="410" name="CustomShape 3"/>
          <p:cNvSpPr/>
          <p:nvPr/>
        </p:nvSpPr>
        <p:spPr>
          <a:xfrm>
            <a:off x="3276720" y="2133720"/>
            <a:ext cx="2666880" cy="266688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411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12" name="CustomShape 5"/>
          <p:cNvSpPr/>
          <p:nvPr/>
        </p:nvSpPr>
        <p:spPr>
          <a:xfrm>
            <a:off x="3429000" y="220968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413" name="CustomShape 6"/>
          <p:cNvSpPr/>
          <p:nvPr/>
        </p:nvSpPr>
        <p:spPr>
          <a:xfrm>
            <a:off x="3657600" y="251460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414" name="CustomShape 7"/>
          <p:cNvSpPr/>
          <p:nvPr/>
        </p:nvSpPr>
        <p:spPr>
          <a:xfrm>
            <a:off x="3657600" y="3048120"/>
            <a:ext cx="1905120" cy="4572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415" name="CustomShape 8"/>
          <p:cNvSpPr/>
          <p:nvPr/>
        </p:nvSpPr>
        <p:spPr>
          <a:xfrm>
            <a:off x="3657600" y="358128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416" name="CustomShape 9"/>
          <p:cNvSpPr/>
          <p:nvPr/>
        </p:nvSpPr>
        <p:spPr>
          <a:xfrm>
            <a:off x="6705720" y="2851200"/>
            <a:ext cx="2133360" cy="946440"/>
          </a:xfrm>
          <a:prstGeom prst="rect">
            <a:avLst/>
          </a:prstGeom>
        </p:spPr>
        <p:txBody>
          <a:bodyPr bIns="46800" lIns="90000" rIns="90000" tIns="46800"/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 and area to manage.</a:t>
            </a:r>
            <a:endParaRPr/>
          </a:p>
          <a:p>
            <a:endParaRPr/>
          </a:p>
        </p:txBody>
      </p:sp>
      <p:sp>
        <p:nvSpPr>
          <p:cNvPr id="417" name="CustomShape 10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18" name="CustomShape 11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19" name="CustomShape 12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20" name="CustomShape 13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21" name="CustomShape 14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</p:spTree>
  </p:cSld>
  <p:timing>
    <p:tnLst>
      <p:par>
        <p:cTn dur="indefinite" id="59" nodeType="tmRoot" restart="never">
          <p:childTnLst>
            <p:seq>
              <p:cTn id="6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23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24" name="CustomShape 3"/>
          <p:cNvSpPr/>
          <p:nvPr/>
        </p:nvSpPr>
        <p:spPr>
          <a:xfrm>
            <a:off x="6705720" y="2851200"/>
            <a:ext cx="2133360" cy="733320"/>
          </a:xfrm>
          <a:prstGeom prst="rect">
            <a:avLst/>
          </a:prstGeom>
        </p:spPr>
        <p:txBody>
          <a:bodyPr bIns="46800" lIns="90000" rIns="90000" tIns="46800"/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select.</a:t>
            </a:r>
            <a:endParaRPr/>
          </a:p>
          <a:p>
            <a:endParaRPr/>
          </a:p>
        </p:txBody>
      </p:sp>
      <p:sp>
        <p:nvSpPr>
          <p:cNvPr id="425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26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27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28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29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430" name="CustomShape 9"/>
          <p:cNvSpPr/>
          <p:nvPr/>
        </p:nvSpPr>
        <p:spPr>
          <a:xfrm>
            <a:off x="5638680" y="990720"/>
            <a:ext cx="457200" cy="45720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</p:sp>
      <p:sp>
        <p:nvSpPr>
          <p:cNvPr id="431" name="CustomShape 10"/>
          <p:cNvSpPr/>
          <p:nvPr/>
        </p:nvSpPr>
        <p:spPr>
          <a:xfrm>
            <a:off x="5664240" y="1003320"/>
            <a:ext cx="404640" cy="39204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</p:sp>
      <p:sp>
        <p:nvSpPr>
          <p:cNvPr id="432" name="CustomShape 11"/>
          <p:cNvSpPr/>
          <p:nvPr/>
        </p:nvSpPr>
        <p:spPr>
          <a:xfrm>
            <a:off x="5703840" y="1055520"/>
            <a:ext cx="327240" cy="7812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</p:sp>
      <p:sp>
        <p:nvSpPr>
          <p:cNvPr id="433" name="CustomShape 12"/>
          <p:cNvSpPr/>
          <p:nvPr/>
        </p:nvSpPr>
        <p:spPr>
          <a:xfrm>
            <a:off x="5703840" y="1147680"/>
            <a:ext cx="327240" cy="7776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</p:sp>
      <p:sp>
        <p:nvSpPr>
          <p:cNvPr id="434" name="CustomShape 13"/>
          <p:cNvSpPr/>
          <p:nvPr/>
        </p:nvSpPr>
        <p:spPr>
          <a:xfrm>
            <a:off x="5703840" y="1238400"/>
            <a:ext cx="327240" cy="7776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</p:sp>
      <p:sp>
        <p:nvSpPr>
          <p:cNvPr id="435" name="CustomShape 14"/>
          <p:cNvSpPr/>
          <p:nvPr/>
        </p:nvSpPr>
        <p:spPr>
          <a:xfrm>
            <a:off x="3276720" y="1981080"/>
            <a:ext cx="2666880" cy="266724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The World</a:t>
            </a:r>
            <a:endParaRPr/>
          </a:p>
        </p:txBody>
      </p:sp>
      <p:sp>
        <p:nvSpPr>
          <p:cNvPr id="436" name="CustomShape 15"/>
          <p:cNvSpPr/>
          <p:nvPr/>
        </p:nvSpPr>
        <p:spPr>
          <a:xfrm>
            <a:off x="3429000" y="2057400"/>
            <a:ext cx="2362320" cy="228600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400"/>
              <a:t>All </a:t>
            </a:r>
            <a:r>
              <a:rPr lang="en-US" sz="1200"/>
              <a:t>Connections</a:t>
            </a:r>
            <a:endParaRPr/>
          </a:p>
        </p:txBody>
      </p:sp>
      <p:sp>
        <p:nvSpPr>
          <p:cNvPr id="437" name="CustomShape 16"/>
          <p:cNvSpPr/>
          <p:nvPr/>
        </p:nvSpPr>
        <p:spPr>
          <a:xfrm>
            <a:off x="3657600" y="2362320"/>
            <a:ext cx="1905120" cy="4572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Personal</a:t>
            </a:r>
            <a:endParaRPr/>
          </a:p>
        </p:txBody>
      </p:sp>
      <p:sp>
        <p:nvSpPr>
          <p:cNvPr id="438" name="CustomShape 17"/>
          <p:cNvSpPr/>
          <p:nvPr/>
        </p:nvSpPr>
        <p:spPr>
          <a:xfrm>
            <a:off x="3657600" y="3429000"/>
            <a:ext cx="1905120" cy="45720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200"/>
              <a:t>Family</a:t>
            </a:r>
            <a:endParaRPr/>
          </a:p>
        </p:txBody>
      </p:sp>
      <p:sp>
        <p:nvSpPr>
          <p:cNvPr id="439" name="CustomShape 18"/>
          <p:cNvSpPr/>
          <p:nvPr/>
        </p:nvSpPr>
        <p:spPr>
          <a:xfrm>
            <a:off x="3124080" y="1905120"/>
            <a:ext cx="2971800" cy="2743200"/>
          </a:xfrm>
          <a:prstGeom prst="ellipse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 algn="ctr">
              <a:buFont typeface="Arial"/>
              <a:buChar char="•"/>
            </a:pPr>
            <a:r>
              <a:rPr lang="en-US" sz="1200"/>
              <a:t>Professional</a:t>
            </a:r>
            <a:endParaRPr/>
          </a:p>
        </p:txBody>
      </p:sp>
      <p:sp>
        <p:nvSpPr>
          <p:cNvPr id="440" name="CustomShape 19"/>
          <p:cNvSpPr/>
          <p:nvPr/>
        </p:nvSpPr>
        <p:spPr>
          <a:xfrm>
            <a:off x="3505320" y="2209680"/>
            <a:ext cx="106668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Coworkers</a:t>
            </a:r>
            <a:endParaRPr/>
          </a:p>
        </p:txBody>
      </p:sp>
      <p:sp>
        <p:nvSpPr>
          <p:cNvPr id="441" name="CustomShape 20"/>
          <p:cNvSpPr/>
          <p:nvPr/>
        </p:nvSpPr>
        <p:spPr>
          <a:xfrm>
            <a:off x="4648320" y="2209680"/>
            <a:ext cx="106668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Customer</a:t>
            </a:r>
            <a:endParaRPr/>
          </a:p>
          <a:p>
            <a:pPr algn="ctr">
              <a:buFont typeface="Arial"/>
              <a:buChar char="•"/>
            </a:pPr>
            <a:r>
              <a:rPr lang="en-US" sz="1000"/>
              <a:t>Contacts</a:t>
            </a:r>
            <a:endParaRPr/>
          </a:p>
        </p:txBody>
      </p:sp>
      <p:sp>
        <p:nvSpPr>
          <p:cNvPr id="442" name="CustomShape 21"/>
          <p:cNvSpPr/>
          <p:nvPr/>
        </p:nvSpPr>
        <p:spPr>
          <a:xfrm>
            <a:off x="3200400" y="2895480"/>
            <a:ext cx="106668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Project Team</a:t>
            </a:r>
            <a:endParaRPr/>
          </a:p>
        </p:txBody>
      </p:sp>
      <p:sp>
        <p:nvSpPr>
          <p:cNvPr id="443" name="CustomShape 22"/>
          <p:cNvSpPr/>
          <p:nvPr/>
        </p:nvSpPr>
        <p:spPr>
          <a:xfrm>
            <a:off x="4343400" y="2895480"/>
            <a:ext cx="1066680" cy="685800"/>
          </a:xfrm>
          <a:prstGeom prst="ellipse">
            <a:avLst/>
          </a:prstGeom>
          <a:solidFill>
            <a:srgbClr val="ff950e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Business</a:t>
            </a:r>
            <a:endParaRPr/>
          </a:p>
          <a:p>
            <a:pPr algn="ctr">
              <a:buFont typeface="Arial"/>
              <a:buChar char="•"/>
            </a:pPr>
            <a:r>
              <a:rPr lang="en-US" sz="1000"/>
              <a:t>Partners</a:t>
            </a:r>
            <a:endParaRPr/>
          </a:p>
        </p:txBody>
      </p:sp>
      <p:sp>
        <p:nvSpPr>
          <p:cNvPr id="444" name="CustomShape 23"/>
          <p:cNvSpPr/>
          <p:nvPr/>
        </p:nvSpPr>
        <p:spPr>
          <a:xfrm>
            <a:off x="3809880" y="3581280"/>
            <a:ext cx="1067040" cy="68580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/>
              <a:t>Others?</a:t>
            </a:r>
            <a:endParaRPr/>
          </a:p>
        </p:txBody>
      </p:sp>
    </p:spTree>
  </p:cSld>
  <p:timing>
    <p:tnLst>
      <p:par>
        <p:cTn dur="indefinite" id="61" nodeType="tmRoot" restart="never">
          <p:childTnLst>
            <p:seq>
              <p:cTn id="6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46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47" name="CustomShape 3"/>
          <p:cNvSpPr/>
          <p:nvPr/>
        </p:nvSpPr>
        <p:spPr>
          <a:xfrm>
            <a:off x="6400800" y="1600200"/>
            <a:ext cx="2514600" cy="329076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I am still unsure how we should link contacts from different modules/sources.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Click to open contact and view/modify data where applicable.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I would like to have an interactive discussion about contact layout, linking and presentation within the model.</a:t>
            </a:r>
            <a:endParaRPr/>
          </a:p>
          <a:p>
            <a:endParaRPr/>
          </a:p>
        </p:txBody>
      </p:sp>
      <p:sp>
        <p:nvSpPr>
          <p:cNvPr id="448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49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50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51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52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453" name="CustomShape 9"/>
          <p:cNvSpPr/>
          <p:nvPr/>
        </p:nvSpPr>
        <p:spPr>
          <a:xfrm>
            <a:off x="5638680" y="990720"/>
            <a:ext cx="457200" cy="457200"/>
          </a:xfrm>
          <a:prstGeom prst="ellipse">
            <a:avLst/>
          </a:prstGeom>
          <a:solidFill>
            <a:srgbClr val="993366"/>
          </a:solidFill>
          <a:ln w="9360">
            <a:solidFill>
              <a:srgbClr val="000000"/>
            </a:solidFill>
            <a:miter/>
          </a:ln>
        </p:spPr>
      </p:sp>
      <p:sp>
        <p:nvSpPr>
          <p:cNvPr id="454" name="CustomShape 10"/>
          <p:cNvSpPr/>
          <p:nvPr/>
        </p:nvSpPr>
        <p:spPr>
          <a:xfrm>
            <a:off x="5664240" y="1003320"/>
            <a:ext cx="404640" cy="392040"/>
          </a:xfrm>
          <a:prstGeom prst="ellipse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</p:sp>
      <p:sp>
        <p:nvSpPr>
          <p:cNvPr id="455" name="CustomShape 11"/>
          <p:cNvSpPr/>
          <p:nvPr/>
        </p:nvSpPr>
        <p:spPr>
          <a:xfrm>
            <a:off x="5703840" y="1055520"/>
            <a:ext cx="327240" cy="7812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</p:sp>
      <p:sp>
        <p:nvSpPr>
          <p:cNvPr id="456" name="CustomShape 12"/>
          <p:cNvSpPr/>
          <p:nvPr/>
        </p:nvSpPr>
        <p:spPr>
          <a:xfrm>
            <a:off x="5703840" y="1147680"/>
            <a:ext cx="327240" cy="77760"/>
          </a:xfrm>
          <a:prstGeom prst="ellipse">
            <a:avLst/>
          </a:prstGeom>
          <a:solidFill>
            <a:srgbClr val="ff9900"/>
          </a:solidFill>
          <a:ln w="9360">
            <a:solidFill>
              <a:srgbClr val="000000"/>
            </a:solidFill>
            <a:miter/>
          </a:ln>
        </p:spPr>
      </p:sp>
      <p:sp>
        <p:nvSpPr>
          <p:cNvPr id="457" name="CustomShape 13"/>
          <p:cNvSpPr/>
          <p:nvPr/>
        </p:nvSpPr>
        <p:spPr>
          <a:xfrm>
            <a:off x="5703840" y="1238400"/>
            <a:ext cx="327240" cy="77760"/>
          </a:xfrm>
          <a:prstGeom prst="ellipse">
            <a:avLst/>
          </a:prstGeom>
          <a:solidFill>
            <a:srgbClr val="008000"/>
          </a:solidFill>
          <a:ln w="9360">
            <a:solidFill>
              <a:srgbClr val="000000"/>
            </a:solidFill>
            <a:miter/>
          </a:ln>
        </p:spPr>
      </p:sp>
      <p:sp>
        <p:nvSpPr>
          <p:cNvPr id="458" name="CustomShape 14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 sz="1000"/>
              <a:t>iPhone Contact:</a:t>
            </a:r>
            <a:r>
              <a:rPr lang="en-US" sz="1000"/>
              <a:t>
</a:t>
            </a:r>
            <a:r>
              <a:rPr lang="en-US" sz="1000"/>
              <a:t>Bill Addington</a:t>
            </a:r>
            <a:endParaRPr/>
          </a:p>
        </p:txBody>
      </p:sp>
      <p:sp>
        <p:nvSpPr>
          <p:cNvPr id="459" name="CustomShape 15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</p:sp>
      <p:sp>
        <p:nvSpPr>
          <p:cNvPr id="460" name="CustomShape 16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</p:sp>
      <p:sp>
        <p:nvSpPr>
          <p:cNvPr id="461" name="CustomShape 17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</p:sp>
      <p:sp>
        <p:nvSpPr>
          <p:cNvPr id="462" name="CustomShape 18"/>
          <p:cNvSpPr/>
          <p:nvPr/>
        </p:nvSpPr>
        <p:spPr>
          <a:xfrm>
            <a:off x="3124080" y="38862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</p:sp>
      <p:sp>
        <p:nvSpPr>
          <p:cNvPr id="463" name="CustomShape 19"/>
          <p:cNvSpPr/>
          <p:nvPr/>
        </p:nvSpPr>
        <p:spPr>
          <a:xfrm>
            <a:off x="3129120" y="1143000"/>
            <a:ext cx="2971800" cy="733320"/>
          </a:xfrm>
          <a:prstGeom prst="rect">
            <a:avLst/>
          </a:prstGeom>
        </p:spPr>
        <p:txBody>
          <a:bodyPr bIns="46800" lIns="90000" rIns="90000" tIns="46800"/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Professional:</a:t>
            </a:r>
            <a:endParaRPr/>
          </a:p>
          <a:p>
            <a:endParaRPr/>
          </a:p>
        </p:txBody>
      </p:sp>
    </p:spTree>
  </p:cSld>
  <p:timing>
    <p:tnLst>
      <p:par>
        <p:cTn dur="indefinite" id="63" nodeType="tmRoot" restart="never">
          <p:childTnLst>
            <p:seq>
              <p:cTn id="6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CustomShape 1"/>
          <p:cNvSpPr/>
          <p:nvPr/>
        </p:nvSpPr>
        <p:spPr>
          <a:xfrm>
            <a:off x="6705720" y="320040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enter</a:t>
            </a:r>
            <a:endParaRPr/>
          </a:p>
        </p:txBody>
      </p:sp>
      <p:sp>
        <p:nvSpPr>
          <p:cNvPr id="465" name="CustomShape 2"/>
          <p:cNvSpPr/>
          <p:nvPr/>
        </p:nvSpPr>
        <p:spPr>
          <a:xfrm>
            <a:off x="6705720" y="2133720"/>
            <a:ext cx="2133360" cy="9169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lang="en-US">
                <a:latin typeface="Segoe UI"/>
              </a:rPr>
              <a:t>Modules Use Case</a:t>
            </a:r>
            <a:endParaRPr/>
          </a:p>
        </p:txBody>
      </p:sp>
      <p:sp>
        <p:nvSpPr>
          <p:cNvPr id="466" name="CustomShape 3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67" name="CustomShape 4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sp>
        <p:nvSpPr>
          <p:cNvPr id="468" name="CustomShape 5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69" name="CustomShape 6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70" name="CustomShape 7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71" name="CustomShape 8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72" name="CustomShape 9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pic>
        <p:nvPicPr>
          <p:cNvPr descr="" id="473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474" name="CustomShape 10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475" name="CustomShape 11"/>
          <p:cNvSpPr/>
          <p:nvPr/>
        </p:nvSpPr>
        <p:spPr>
          <a:xfrm>
            <a:off x="3236760" y="4114800"/>
            <a:ext cx="274320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as social as you want</a:t>
            </a:r>
            <a:endParaRPr/>
          </a:p>
        </p:txBody>
      </p:sp>
    </p:spTree>
  </p:cSld>
  <p:timing>
    <p:tnLst>
      <p:par>
        <p:cTn dur="indefinite" id="65" nodeType="tmRoot" restart="never">
          <p:childTnLst>
            <p:seq>
              <p:cTn id="6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77" name="CustomShape 2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78" name="CustomShape 3"/>
          <p:cNvSpPr/>
          <p:nvPr/>
        </p:nvSpPr>
        <p:spPr>
          <a:xfrm>
            <a:off x="6400800" y="1600200"/>
            <a:ext cx="2514600" cy="39301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Modules are of three types (possibly more):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1. communication – used to interact with different information sources, social networks, and communication media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2. content sharing – status, photos, location, videos, files, etc.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3. features – (see slide 2) basically whatever will populate the bottom nav bar</a:t>
            </a:r>
            <a:endParaRPr/>
          </a:p>
          <a:p>
            <a:endParaRPr/>
          </a:p>
        </p:txBody>
      </p:sp>
      <p:sp>
        <p:nvSpPr>
          <p:cNvPr id="479" name="CustomShape 4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80" name="CustomShape 5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81" name="CustomShape 6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82" name="CustomShape 7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83" name="CustomShape 8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484" name="CustomShape 9"/>
          <p:cNvSpPr/>
          <p:nvPr/>
        </p:nvSpPr>
        <p:spPr>
          <a:xfrm>
            <a:off x="3124080" y="17524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Arial"/>
              <a:buChar char="•"/>
            </a:pPr>
            <a:r>
              <a:rPr lang="en-US" sz="1500"/>
              <a:t>iPhone – contact list, SMS</a:t>
            </a:r>
            <a:endParaRPr/>
          </a:p>
        </p:txBody>
      </p:sp>
      <p:sp>
        <p:nvSpPr>
          <p:cNvPr id="485" name="CustomShape 10"/>
          <p:cNvSpPr/>
          <p:nvPr/>
        </p:nvSpPr>
        <p:spPr>
          <a:xfrm>
            <a:off x="3124080" y="22860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Times New Roman"/>
              <a:buChar char="•"/>
            </a:pPr>
            <a:r>
              <a:rPr lang="en-US"/>
              <a:t>Email: (address)</a:t>
            </a:r>
            <a:endParaRPr/>
          </a:p>
        </p:txBody>
      </p:sp>
      <p:sp>
        <p:nvSpPr>
          <p:cNvPr id="486" name="CustomShape 11"/>
          <p:cNvSpPr/>
          <p:nvPr/>
        </p:nvSpPr>
        <p:spPr>
          <a:xfrm>
            <a:off x="3124080" y="281952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Times New Roman"/>
              <a:buChar char="•"/>
            </a:pPr>
            <a:r>
              <a:rPr lang="en-US"/>
              <a:t>Facebook: (username)</a:t>
            </a:r>
            <a:endParaRPr/>
          </a:p>
        </p:txBody>
      </p:sp>
      <p:sp>
        <p:nvSpPr>
          <p:cNvPr id="487" name="CustomShape 12"/>
          <p:cNvSpPr/>
          <p:nvPr/>
        </p:nvSpPr>
        <p:spPr>
          <a:xfrm>
            <a:off x="3124080" y="3352680"/>
            <a:ext cx="2971800" cy="38124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Times New Roman"/>
              <a:buChar char="•"/>
            </a:pPr>
            <a:r>
              <a:rPr lang="en-US"/>
              <a:t>LinkedIn: (username)</a:t>
            </a:r>
            <a:endParaRPr/>
          </a:p>
        </p:txBody>
      </p:sp>
      <p:sp>
        <p:nvSpPr>
          <p:cNvPr id="488" name="CustomShape 13"/>
          <p:cNvSpPr/>
          <p:nvPr/>
        </p:nvSpPr>
        <p:spPr>
          <a:xfrm>
            <a:off x="3124080" y="3886200"/>
            <a:ext cx="2971800" cy="380880"/>
          </a:xfrm>
          <a:prstGeom prst="rect">
            <a:avLst/>
          </a:prstGeom>
          <a:solidFill>
            <a:srgbClr val="99cc00"/>
          </a:solidFill>
          <a:ln w="19080">
            <a:solidFill>
              <a:srgbClr val="000000"/>
            </a:solidFill>
            <a:miter/>
          </a:ln>
        </p:spPr>
        <p:txBody>
          <a:bodyPr bIns="46800" lIns="90000" rIns="90000" tIns="46800" wrap="none"/>
          <a:p>
            <a:pPr>
              <a:buFont typeface="Times New Roman"/>
              <a:buChar char="•"/>
            </a:pPr>
            <a:r>
              <a:rPr lang="en-US"/>
              <a:t>Add new module...</a:t>
            </a:r>
            <a:endParaRPr/>
          </a:p>
        </p:txBody>
      </p:sp>
      <p:sp>
        <p:nvSpPr>
          <p:cNvPr id="489" name="CustomShape 14"/>
          <p:cNvSpPr/>
          <p:nvPr/>
        </p:nvSpPr>
        <p:spPr>
          <a:xfrm>
            <a:off x="3129120" y="1143000"/>
            <a:ext cx="2971800" cy="733320"/>
          </a:xfrm>
          <a:prstGeom prst="rect">
            <a:avLst/>
          </a:prstGeom>
        </p:spPr>
        <p:txBody>
          <a:bodyPr bIns="46800" lIns="90000" rIns="90000" tIns="46800"/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List of installed modules</a:t>
            </a:r>
            <a:endParaRPr/>
          </a:p>
          <a:p>
            <a:endParaRPr/>
          </a:p>
        </p:txBody>
      </p:sp>
    </p:spTree>
  </p:cSld>
  <p:timing>
    <p:tnLst>
      <p:par>
        <p:cTn dur="indefinite" id="67" nodeType="tmRoot" restart="never">
          <p:childTnLst>
            <p:seq>
              <p:cTn id="6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491" name="CustomShape 2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492" name="CustomShape 3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493" name="CustomShape 4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494" name="CustomShape 5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495" name="CustomShape 6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496" name="CustomShape 7"/>
          <p:cNvSpPr/>
          <p:nvPr/>
        </p:nvSpPr>
        <p:spPr>
          <a:xfrm>
            <a:off x="6705720" y="3200400"/>
            <a:ext cx="213336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Tap to enter</a:t>
            </a:r>
            <a:endParaRPr/>
          </a:p>
        </p:txBody>
      </p:sp>
      <p:sp>
        <p:nvSpPr>
          <p:cNvPr id="497" name="CustomShape 8"/>
          <p:cNvSpPr/>
          <p:nvPr/>
        </p:nvSpPr>
        <p:spPr>
          <a:xfrm>
            <a:off x="6705720" y="2133720"/>
            <a:ext cx="2133360" cy="91692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lang="en-US">
                <a:latin typeface="Segoe UI"/>
              </a:rPr>
              <a:t>Settings Overview</a:t>
            </a:r>
            <a:endParaRPr/>
          </a:p>
        </p:txBody>
      </p:sp>
      <p:sp>
        <p:nvSpPr>
          <p:cNvPr id="498" name="CustomShape 9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  <p:pic>
        <p:nvPicPr>
          <p:cNvPr descr="" id="499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3581280" y="2362320"/>
            <a:ext cx="2133720" cy="1670040"/>
          </a:xfrm>
          <a:prstGeom prst="rect">
            <a:avLst/>
          </a:prstGeom>
        </p:spPr>
      </p:pic>
      <p:sp>
        <p:nvSpPr>
          <p:cNvPr id="500" name="CustomShape 10"/>
          <p:cNvSpPr/>
          <p:nvPr/>
        </p:nvSpPr>
        <p:spPr>
          <a:xfrm>
            <a:off x="3581280" y="1995480"/>
            <a:ext cx="2133720" cy="3682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b="1" lang="en-US">
                <a:latin typeface="Segoe UI"/>
              </a:rPr>
              <a:t>b u t t e r f l i</a:t>
            </a:r>
            <a:endParaRPr/>
          </a:p>
        </p:txBody>
      </p:sp>
      <p:sp>
        <p:nvSpPr>
          <p:cNvPr id="501" name="CustomShape 11"/>
          <p:cNvSpPr/>
          <p:nvPr/>
        </p:nvSpPr>
        <p:spPr>
          <a:xfrm>
            <a:off x="3236760" y="4114800"/>
            <a:ext cx="2743200" cy="30708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as social as you want</a:t>
            </a:r>
            <a:endParaRPr/>
          </a:p>
        </p:txBody>
      </p:sp>
    </p:spTree>
  </p:cSld>
  <p:timing>
    <p:tnLst>
      <p:par>
        <p:cTn dur="indefinite" id="69" nodeType="tmRoot" restart="never">
          <p:childTnLst>
            <p:seq>
              <p:cTn id="7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CustomShape 1"/>
          <p:cNvSpPr/>
          <p:nvPr/>
        </p:nvSpPr>
        <p:spPr>
          <a:xfrm>
            <a:off x="3048120" y="914400"/>
            <a:ext cx="3124080" cy="4724280"/>
          </a:xfrm>
          <a:prstGeom prst="rect">
            <a:avLst/>
          </a:prstGeom>
          <a:solidFill>
            <a:srgbClr val="99ccff"/>
          </a:solidFill>
          <a:ln w="19080">
            <a:solidFill>
              <a:srgbClr val="000000"/>
            </a:solidFill>
            <a:miter/>
          </a:ln>
        </p:spPr>
      </p:sp>
      <p:sp>
        <p:nvSpPr>
          <p:cNvPr id="503" name="CustomShape 2"/>
          <p:cNvSpPr/>
          <p:nvPr/>
        </p:nvSpPr>
        <p:spPr>
          <a:xfrm>
            <a:off x="304812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Activity</a:t>
            </a:r>
            <a:endParaRPr/>
          </a:p>
        </p:txBody>
      </p:sp>
      <p:sp>
        <p:nvSpPr>
          <p:cNvPr id="504" name="CustomShape 3"/>
          <p:cNvSpPr/>
          <p:nvPr/>
        </p:nvSpPr>
        <p:spPr>
          <a:xfrm>
            <a:off x="367344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Share</a:t>
            </a:r>
            <a:endParaRPr/>
          </a:p>
        </p:txBody>
      </p:sp>
      <p:sp>
        <p:nvSpPr>
          <p:cNvPr id="505" name="CustomShape 4"/>
          <p:cNvSpPr/>
          <p:nvPr/>
        </p:nvSpPr>
        <p:spPr>
          <a:xfrm>
            <a:off x="4297320" y="5181480"/>
            <a:ext cx="6256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My World</a:t>
            </a:r>
            <a:endParaRPr/>
          </a:p>
        </p:txBody>
      </p:sp>
      <p:sp>
        <p:nvSpPr>
          <p:cNvPr id="506" name="CustomShape 5"/>
          <p:cNvSpPr/>
          <p:nvPr/>
        </p:nvSpPr>
        <p:spPr>
          <a:xfrm>
            <a:off x="4923000" y="5181480"/>
            <a:ext cx="623880" cy="457200"/>
          </a:xfrm>
          <a:prstGeom prst="rect">
            <a:avLst/>
          </a:prstGeom>
          <a:solidFill>
            <a:srgbClr val="333333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Modules</a:t>
            </a:r>
            <a:endParaRPr/>
          </a:p>
        </p:txBody>
      </p:sp>
      <p:sp>
        <p:nvSpPr>
          <p:cNvPr id="507" name="CustomShape 6"/>
          <p:cNvSpPr/>
          <p:nvPr/>
        </p:nvSpPr>
        <p:spPr>
          <a:xfrm>
            <a:off x="5546880" y="5181480"/>
            <a:ext cx="623880" cy="45720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  <p:txBody>
          <a:bodyPr anchor="ctr" bIns="46800" lIns="90000" rIns="90000" tIns="46800" wrap="none"/>
          <a:p>
            <a:pPr algn="ctr">
              <a:buFont typeface="Arial"/>
              <a:buChar char="•"/>
            </a:pPr>
            <a:r>
              <a:rPr lang="en-US" sz="1000">
                <a:solidFill>
                  <a:srgbClr val="dddddd"/>
                </a:solidFill>
              </a:rPr>
              <a:t>Settings</a:t>
            </a:r>
            <a:endParaRPr/>
          </a:p>
        </p:txBody>
      </p:sp>
      <p:sp>
        <p:nvSpPr>
          <p:cNvPr id="508" name="CustomShape 7"/>
          <p:cNvSpPr/>
          <p:nvPr/>
        </p:nvSpPr>
        <p:spPr>
          <a:xfrm>
            <a:off x="3429000" y="1600200"/>
            <a:ext cx="2286000" cy="2651400"/>
          </a:xfrm>
          <a:prstGeom prst="rect">
            <a:avLst/>
          </a:prstGeom>
        </p:spPr>
        <p:txBody>
          <a:bodyPr bIns="46800" lIns="90000" rIns="90000" tIns="46800"/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General application settings: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Colors, text size, alerts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Metadata backup/restore to pw-encryped zip in Drafts email folder</a:t>
            </a:r>
            <a:endParaRPr/>
          </a:p>
          <a:p>
            <a:endParaRPr/>
          </a:p>
          <a:p>
            <a:pPr algn="ctr">
              <a:lnSpc>
                <a:spcPct val="100000"/>
              </a:lnSpc>
              <a:buFont typeface="Segoe UI"/>
              <a:buChar char="•"/>
            </a:pPr>
            <a:r>
              <a:rPr i="1" lang="en-US" sz="1400">
                <a:latin typeface="Segoe UI"/>
              </a:rPr>
              <a:t>Future: PKI for email</a:t>
            </a:r>
            <a:endParaRPr/>
          </a:p>
          <a:p>
            <a:endParaRPr/>
          </a:p>
        </p:txBody>
      </p:sp>
      <p:sp>
        <p:nvSpPr>
          <p:cNvPr id="509" name="CustomShape 8"/>
          <p:cNvSpPr/>
          <p:nvPr/>
        </p:nvSpPr>
        <p:spPr>
          <a:xfrm>
            <a:off x="3048120" y="914400"/>
            <a:ext cx="3124080" cy="380880"/>
          </a:xfrm>
          <a:prstGeom prst="rect">
            <a:avLst/>
          </a:prstGeom>
          <a:solidFill>
            <a:srgbClr val="808080"/>
          </a:solidFill>
          <a:ln w="19080">
            <a:solidFill>
              <a:srgbClr val="000000"/>
            </a:solidFill>
            <a:miter/>
          </a:ln>
        </p:spPr>
      </p:sp>
    </p:spTree>
  </p:cSld>
  <p:timing>
    <p:tnLst>
      <p:par>
        <p:cTn dur="indefinite" id="71" nodeType="tmRoot" restart="never">
          <p:childTnLst>
            <p:seq>
              <p:cTn id="7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